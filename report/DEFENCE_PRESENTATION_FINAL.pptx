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6" r:id="rId26"/>
    <p:sldId id="258" r:id="rId4"/>
    <p:sldId id="259" r:id="rId5"/>
    <p:sldId id="260" r:id="rId6"/>
    <p:sldId id="261" r:id="rId7"/>
    <p:sldId id="277" r:id="rId27"/>
    <p:sldId id="278" r:id="rId28"/>
    <p:sldId id="279" r:id="rId29"/>
    <p:sldId id="262" r:id="rId8"/>
    <p:sldId id="263" r:id="rId9"/>
    <p:sldId id="264" r:id="rId10"/>
    <p:sldId id="265" r:id="rId11"/>
    <p:sldId id="266" r:id="rId12"/>
    <p:sldId id="267" r:id="rId13"/>
    <p:sldId id="268" r:id="rId14"/>
    <p:sldId id="269" r:id="rId15"/>
    <p:sldId id="280" r:id="rId30"/>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3" d="100"/>
          <a:sy n="83" d="100"/>
        </p:scale>
        <p:origin x="408"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0" y="1097280"/>
            <a:ext cx="12191695" cy="2407920"/>
          </a:xfrm>
          <a:prstGeom prst="rect">
            <a:avLst/>
          </a:prstGeom>
          <a:noFill/>
        </p:spPr>
        <p:txBody>
          <a:bodyPr wrap="square">
            <a:spAutoFit/>
          </a:bodyPr>
          <a:lstStyle/>
          <a:p>
            <a:pPr algn="ctr"/>
            <a:r>
              <a:rPr sz="2800" b="1">
                <a:solidFill>
                  <a:srgbClr val="FFFFFF"/>
                </a:solidFill>
                <a:latin typeface="Calibri"/>
              </a:rPr>
              <a:t>DESIGN AND SIMULATION OF AN IoT-BASED
SMART ENERGY MONITORING NETWORK WITH ALERT SYSTEM</a:t>
            </a:r>
          </a:p>
        </p:txBody>
      </p:sp>
      <p:sp>
        <p:nvSpPr>
          <p:cNvPr id="4" name="TextBox 3"/>
          <p:cNvSpPr txBox="1"/>
          <p:nvPr/>
        </p:nvSpPr>
        <p:spPr>
          <a:xfrm>
            <a:off x="0" y="2377440"/>
            <a:ext cx="12191695" cy="1798320"/>
          </a:xfrm>
          <a:prstGeom prst="rect">
            <a:avLst/>
          </a:prstGeom>
          <a:noFill/>
        </p:spPr>
        <p:txBody>
          <a:bodyPr wrap="square">
            <a:spAutoFit/>
          </a:bodyPr>
          <a:lstStyle/>
          <a:p>
            <a:pPr algn="ctr"/>
            <a:r>
              <a:rPr sz="2000" b="0">
                <a:solidFill>
                  <a:srgbClr val="FFFFFF"/>
                </a:solidFill>
                <a:latin typeface="Calibri"/>
              </a:rPr>
              <a:t>A Case Study of a Residential Building</a:t>
            </a:r>
          </a:p>
        </p:txBody>
      </p:sp>
      <p:sp>
        <p:nvSpPr>
          <p:cNvPr id="5" name="Rectangle 4"/>
          <p:cNvSpPr/>
          <p:nvPr/>
        </p:nvSpPr>
        <p:spPr>
          <a:xfrm>
            <a:off x="2438247" y="2926080"/>
            <a:ext cx="7315200" cy="18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3291840"/>
            <a:ext cx="12191695" cy="1645920"/>
          </a:xfrm>
          <a:prstGeom prst="rect">
            <a:avLst/>
          </a:prstGeom>
          <a:noFill/>
        </p:spPr>
        <p:txBody>
          <a:bodyPr wrap="square">
            <a:spAutoFit/>
          </a:bodyPr>
          <a:lstStyle/>
          <a:p>
            <a:pPr algn="ctr"/>
            <a:r>
              <a:rPr sz="1800" b="1">
                <a:solidFill>
                  <a:srgbClr val="FFFFFF"/>
                </a:solidFill>
                <a:latin typeface="Calibri"/>
              </a:rPr>
              <a:t>NUHU ABDULAI (B202220513)</a:t>
            </a:r>
          </a:p>
        </p:txBody>
      </p:sp>
      <p:sp>
        <p:nvSpPr>
          <p:cNvPr id="7" name="TextBox 6"/>
          <p:cNvSpPr txBox="1"/>
          <p:nvPr/>
        </p:nvSpPr>
        <p:spPr>
          <a:xfrm>
            <a:off x="0" y="3794760"/>
            <a:ext cx="12191695" cy="1493520"/>
          </a:xfrm>
          <a:prstGeom prst="rect">
            <a:avLst/>
          </a:prstGeom>
          <a:noFill/>
        </p:spPr>
        <p:txBody>
          <a:bodyPr wrap="square">
            <a:spAutoFit/>
          </a:bodyPr>
          <a:lstStyle/>
          <a:p>
            <a:pPr algn="ctr"/>
            <a:r>
              <a:rPr sz="1600" b="0">
                <a:solidFill>
                  <a:srgbClr val="FFFFFF"/>
                </a:solidFill>
                <a:latin typeface="Calibri"/>
              </a:rPr>
              <a:t>Supervisor: Dr. Bright Selorm Kodzo Anibrika</a:t>
            </a:r>
          </a:p>
        </p:txBody>
      </p:sp>
      <p:sp>
        <p:nvSpPr>
          <p:cNvPr id="8" name="TextBox 7"/>
          <p:cNvSpPr txBox="1"/>
          <p:nvPr/>
        </p:nvSpPr>
        <p:spPr>
          <a:xfrm>
            <a:off x="0" y="4297680"/>
            <a:ext cx="12191695" cy="1341120"/>
          </a:xfrm>
          <a:prstGeom prst="rect">
            <a:avLst/>
          </a:prstGeom>
          <a:noFill/>
        </p:spPr>
        <p:txBody>
          <a:bodyPr wrap="square">
            <a:spAutoFit/>
          </a:bodyPr>
          <a:lstStyle/>
          <a:p>
            <a:pPr algn="ctr"/>
            <a:r>
              <a:rPr sz="1400" b="0">
                <a:solidFill>
                  <a:srgbClr val="FFFFFF"/>
                </a:solidFill>
                <a:latin typeface="Calibri"/>
              </a:rPr>
              <a:t>Department of Computer Science</a:t>
            </a:r>
          </a:p>
        </p:txBody>
      </p:sp>
      <p:sp>
        <p:nvSpPr>
          <p:cNvPr id="9" name="TextBox 8"/>
          <p:cNvSpPr txBox="1"/>
          <p:nvPr/>
        </p:nvSpPr>
        <p:spPr>
          <a:xfrm>
            <a:off x="0" y="4709160"/>
            <a:ext cx="12191695" cy="1341120"/>
          </a:xfrm>
          <a:prstGeom prst="rect">
            <a:avLst/>
          </a:prstGeom>
          <a:noFill/>
        </p:spPr>
        <p:txBody>
          <a:bodyPr wrap="square">
            <a:spAutoFit/>
          </a:bodyPr>
          <a:lstStyle/>
          <a:p>
            <a:pPr algn="ctr"/>
            <a:r>
              <a:rPr sz="1400" b="0">
                <a:solidFill>
                  <a:srgbClr val="FFFFFF"/>
                </a:solidFill>
                <a:latin typeface="Calibri"/>
              </a:rPr>
              <a:t>Koforidua Technical University</a:t>
            </a:r>
          </a:p>
        </p:txBody>
      </p:sp>
      <p:sp>
        <p:nvSpPr>
          <p:cNvPr id="10" name="TextBox 9"/>
          <p:cNvSpPr txBox="1"/>
          <p:nvPr/>
        </p:nvSpPr>
        <p:spPr>
          <a:xfrm>
            <a:off x="0" y="5212080"/>
            <a:ext cx="12191695" cy="1341120"/>
          </a:xfrm>
          <a:prstGeom prst="rect">
            <a:avLst/>
          </a:prstGeom>
          <a:noFill/>
        </p:spPr>
        <p:txBody>
          <a:bodyPr wrap="square">
            <a:spAutoFit/>
          </a:bodyPr>
          <a:lstStyle/>
          <a:p>
            <a:pPr algn="ctr"/>
            <a:r>
              <a:rPr sz="1400" b="0">
                <a:solidFill>
                  <a:srgbClr val="FFFFFF"/>
                </a:solidFill>
                <a:latin typeface="Calibri"/>
              </a:rPr>
              <a:t>2025/2026</a:t>
            </a:r>
          </a:p>
        </p:txBody>
      </p:sp>
      <p:sp>
        <p:nvSpPr>
          <p:cNvPr id="11" name="Rectangle 10"/>
          <p:cNvSpPr/>
          <p:nvPr/>
        </p:nvSpPr>
        <p:spPr>
          <a:xfrm>
            <a:off x="457200" y="6537960"/>
            <a:ext cx="11277295" cy="18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PRESENTATION OUTLINE</a:t>
            </a:r>
          </a:p>
        </p:txBody>
      </p:sp>
      <p:sp>
        <p:nvSpPr>
          <p:cNvPr id="4" name="TextBox 3"/>
          <p:cNvSpPr txBox="1"/>
          <p:nvPr/>
        </p:nvSpPr>
        <p:spPr>
          <a:xfrm>
            <a:off x="1371600" y="1188720"/>
            <a:ext cx="4572000" cy="4572000"/>
          </a:xfrm>
          <a:prstGeom prst="rect">
            <a:avLst/>
          </a:prstGeom>
          <a:noFill/>
        </p:spPr>
        <p:txBody>
          <a:bodyPr wrap="square">
            <a:spAutoFit/>
          </a:bodyPr>
          <a:lstStyle/>
          <a:p>
            <a:pPr>
              <a:lnSpc>
                <a:spcPct val="130000"/>
              </a:lnSpc>
              <a:spcAft>
                <a:spcPts val="1200"/>
              </a:spcAft>
            </a:pPr>
            <a:r>
              <a:rPr sz="1800">
                <a:solidFill>
                  <a:srgbClr val="333333"/>
                </a:solidFill>
                <a:latin typeface="Calibri"/>
              </a:rPr>
              <a:t>1.   Introduction and Background</a:t>
            </a:r>
          </a:p>
          <a:p>
            <a:pPr>
              <a:lnSpc>
                <a:spcPct val="130000"/>
              </a:lnSpc>
              <a:spcAft>
                <a:spcPts val="1200"/>
              </a:spcAft>
            </a:pPr>
            <a:r>
              <a:rPr sz="1800">
                <a:solidFill>
                  <a:srgbClr val="333333"/>
                </a:solidFill>
                <a:latin typeface="Calibri"/>
              </a:rPr>
              <a:t>2.   Problem Statement</a:t>
            </a:r>
          </a:p>
          <a:p>
            <a:pPr>
              <a:lnSpc>
                <a:spcPct val="130000"/>
              </a:lnSpc>
              <a:spcAft>
                <a:spcPts val="1200"/>
              </a:spcAft>
            </a:pPr>
            <a:r>
              <a:rPr sz="1800">
                <a:solidFill>
                  <a:srgbClr val="333333"/>
                </a:solidFill>
                <a:latin typeface="Calibri"/>
              </a:rPr>
              <a:t>3.   Aim and Objectives</a:t>
            </a:r>
          </a:p>
          <a:p>
            <a:pPr>
              <a:lnSpc>
                <a:spcPct val="130000"/>
              </a:lnSpc>
              <a:spcAft>
                <a:spcPts val="1200"/>
              </a:spcAft>
            </a:pPr>
            <a:r>
              <a:rPr sz="1800">
                <a:solidFill>
                  <a:srgbClr val="333333"/>
                </a:solidFill>
                <a:latin typeface="Calibri"/>
              </a:rPr>
              <a:t>4.   Scope and Limitations</a:t>
            </a:r>
          </a:p>
          <a:p>
            <a:pPr>
              <a:lnSpc>
                <a:spcPct val="130000"/>
              </a:lnSpc>
              <a:spcAft>
                <a:spcPts val="1200"/>
              </a:spcAft>
            </a:pPr>
            <a:r>
              <a:rPr sz="1800">
                <a:solidFill>
                  <a:srgbClr val="333333"/>
                </a:solidFill>
                <a:latin typeface="Calibri"/>
              </a:rPr>
              <a:t>5.   Relevance and Beneficiaries</a:t>
            </a:r>
          </a:p>
          <a:p>
            <a:pPr>
              <a:lnSpc>
                <a:spcPct val="130000"/>
              </a:lnSpc>
              <a:spcAft>
                <a:spcPts val="1200"/>
              </a:spcAft>
            </a:pPr>
            <a:r>
              <a:rPr sz="1800">
                <a:solidFill>
                  <a:srgbClr val="333333"/>
                </a:solidFill>
                <a:latin typeface="Calibri"/>
              </a:rPr>
              <a:t>6.   Project Activity Planning</a:t>
            </a:r>
          </a:p>
          <a:p>
            <a:pPr>
              <a:lnSpc>
                <a:spcPct val="130000"/>
              </a:lnSpc>
              <a:spcAft>
                <a:spcPts val="1200"/>
              </a:spcAft>
            </a:pPr>
            <a:r>
              <a:rPr sz="1800">
                <a:solidFill>
                  <a:srgbClr val="333333"/>
                </a:solidFill>
                <a:latin typeface="Calibri"/>
              </a:rPr>
              <a:t>7.   Literature Review</a:t>
            </a:r>
          </a:p>
        </p:txBody>
      </p:sp>
      <p:sp>
        <p:nvSpPr>
          <p:cNvPr id="5" name="TextBox 4"/>
          <p:cNvSpPr txBox="1"/>
          <p:nvPr/>
        </p:nvSpPr>
        <p:spPr>
          <a:xfrm>
            <a:off x="6400800" y="1188720"/>
            <a:ext cx="4572000" cy="4572000"/>
          </a:xfrm>
          <a:prstGeom prst="rect">
            <a:avLst/>
          </a:prstGeom>
          <a:noFill/>
        </p:spPr>
        <p:txBody>
          <a:bodyPr wrap="square">
            <a:spAutoFit/>
          </a:bodyPr>
          <a:lstStyle/>
          <a:p>
            <a:pPr>
              <a:lnSpc>
                <a:spcPct val="130000"/>
              </a:lnSpc>
              <a:spcAft>
                <a:spcPts val="1200"/>
              </a:spcAft>
            </a:pPr>
            <a:r>
              <a:rPr sz="1800">
                <a:solidFill>
                  <a:srgbClr val="333333"/>
                </a:solidFill>
                <a:latin typeface="Calibri"/>
              </a:rPr>
              <a:t>8.   Methodology</a:t>
            </a:r>
          </a:p>
          <a:p>
            <a:pPr>
              <a:lnSpc>
                <a:spcPct val="130000"/>
              </a:lnSpc>
              <a:spcAft>
                <a:spcPts val="1200"/>
              </a:spcAft>
            </a:pPr>
            <a:r>
              <a:rPr sz="1800">
                <a:solidFill>
                  <a:srgbClr val="333333"/>
                </a:solidFill>
                <a:latin typeface="Calibri"/>
              </a:rPr>
              <a:t>9.   Proposed System Architecture</a:t>
            </a:r>
          </a:p>
          <a:p>
            <a:pPr>
              <a:lnSpc>
                <a:spcPct val="130000"/>
              </a:lnSpc>
              <a:spcAft>
                <a:spcPts val="1200"/>
              </a:spcAft>
            </a:pPr>
            <a:r>
              <a:rPr sz="1800">
                <a:solidFill>
                  <a:srgbClr val="333333"/>
                </a:solidFill>
                <a:latin typeface="Calibri"/>
              </a:rPr>
              <a:t>10.  Implementation</a:t>
            </a:r>
          </a:p>
          <a:p>
            <a:pPr>
              <a:lnSpc>
                <a:spcPct val="130000"/>
              </a:lnSpc>
              <a:spcAft>
                <a:spcPts val="1200"/>
              </a:spcAft>
            </a:pPr>
            <a:r>
              <a:rPr sz="1800">
                <a:solidFill>
                  <a:srgbClr val="333333"/>
                </a:solidFill>
                <a:latin typeface="Calibri"/>
              </a:rPr>
              <a:t>11.  Testing and Results</a:t>
            </a:r>
          </a:p>
          <a:p>
            <a:pPr>
              <a:lnSpc>
                <a:spcPct val="130000"/>
              </a:lnSpc>
              <a:spcAft>
                <a:spcPts val="1200"/>
              </a:spcAft>
            </a:pPr>
            <a:r>
              <a:rPr sz="1800">
                <a:solidFill>
                  <a:srgbClr val="333333"/>
                </a:solidFill>
                <a:latin typeface="Calibri"/>
              </a:rPr>
              <a:t>12.  Findings and Challenges</a:t>
            </a:r>
          </a:p>
          <a:p>
            <a:pPr>
              <a:lnSpc>
                <a:spcPct val="130000"/>
              </a:lnSpc>
              <a:spcAft>
                <a:spcPts val="1200"/>
              </a:spcAft>
            </a:pPr>
            <a:r>
              <a:rPr sz="1800">
                <a:solidFill>
                  <a:srgbClr val="333333"/>
                </a:solidFill>
                <a:latin typeface="Calibri"/>
              </a:rPr>
              <a:t>13.  Conclusions and Recommendations</a:t>
            </a:r>
          </a:p>
        </p:txBody>
      </p:sp>
      <p:sp>
        <p:nvSpPr>
          <p:cNvPr id="6" name="Rectangle 5"/>
          <p:cNvSpPr/>
          <p:nvPr/>
        </p:nvSpPr>
        <p:spPr>
          <a:xfrm>
            <a:off x="457200" y="6537960"/>
            <a:ext cx="11277295"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0" y="6446520"/>
            <a:ext cx="640080" cy="320040"/>
          </a:xfrm>
          <a:prstGeom prst="rect">
            <a:avLst/>
          </a:prstGeom>
          <a:noFill/>
        </p:spPr>
        <p:txBody>
          <a:bodyPr wrap="none">
            <a:spAutoFit/>
          </a:bodyPr>
          <a:lstStyle/>
          <a:p>
            <a:pPr algn="r"/>
            <a:r>
              <a:rPr sz="1000">
                <a:solidFill>
                  <a:srgbClr val="333333"/>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INTRODUCTION AND BACKGROUND</a:t>
            </a:r>
          </a:p>
        </p:txBody>
      </p:sp>
      <p:sp>
        <p:nvSpPr>
          <p:cNvPr id="4" name="TextBox 3"/>
          <p:cNvSpPr txBox="1"/>
          <p:nvPr/>
        </p:nvSpPr>
        <p:spPr>
          <a:xfrm>
            <a:off x="731520" y="1097280"/>
            <a:ext cx="10515600" cy="5029200"/>
          </a:xfrm>
          <a:prstGeom prst="rect">
            <a:avLst/>
          </a:prstGeom>
          <a:noFill/>
        </p:spPr>
        <p:txBody>
          <a:bodyPr wrap="square">
            <a:spAutoFit/>
          </a:bodyPr>
          <a:lstStyle/>
          <a:p>
            <a:pPr>
              <a:lnSpc>
                <a:spcPct val="125000"/>
              </a:lnSpc>
              <a:spcAft>
                <a:spcPts val="1200"/>
              </a:spcAft>
            </a:pPr>
            <a:r>
              <a:rPr sz="1600">
                <a:solidFill>
                  <a:srgbClr val="333333"/>
                </a:solidFill>
                <a:latin typeface="Calibri"/>
              </a:rPr>
              <a:t>•  Electrical energy is fundamental to modern civilisation; residential consumption accounts for ~40% of national demand in Ghana (ECG)</a:t>
            </a:r>
          </a:p>
          <a:p>
            <a:pPr>
              <a:lnSpc>
                <a:spcPct val="125000"/>
              </a:lnSpc>
              <a:spcAft>
                <a:spcPts val="1200"/>
              </a:spcAft>
            </a:pPr>
            <a:r>
              <a:rPr sz="1600">
                <a:solidFill>
                  <a:srgbClr val="333333"/>
                </a:solidFill>
                <a:latin typeface="Calibri"/>
              </a:rPr>
              <a:t>•  Global electricity demand grew 2.2% in 2023 (IEA, 2024)</a:t>
            </a:r>
          </a:p>
          <a:p>
            <a:pPr>
              <a:lnSpc>
                <a:spcPct val="125000"/>
              </a:lnSpc>
              <a:spcAft>
                <a:spcPts val="1200"/>
              </a:spcAft>
            </a:pPr>
            <a:r>
              <a:rPr sz="1600">
                <a:solidFill>
                  <a:srgbClr val="333333"/>
                </a:solidFill>
                <a:latin typeface="Calibri"/>
              </a:rPr>
              <a:t>•  Traditional analogue meters provide only cumulative consumption — no real-time visibility</a:t>
            </a:r>
          </a:p>
          <a:p>
            <a:pPr>
              <a:lnSpc>
                <a:spcPct val="125000"/>
              </a:lnSpc>
              <a:spcAft>
                <a:spcPts val="1200"/>
              </a:spcAft>
            </a:pPr>
            <a:r>
              <a:rPr sz="1600">
                <a:solidFill>
                  <a:srgbClr val="333333"/>
                </a:solidFill>
                <a:latin typeface="Calibri"/>
              </a:rPr>
              <a:t>•  IoT enables continuous measurement of voltage, current, power, energy, temperature, and humidity</a:t>
            </a:r>
          </a:p>
          <a:p>
            <a:pPr>
              <a:lnSpc>
                <a:spcPct val="125000"/>
              </a:lnSpc>
              <a:spcAft>
                <a:spcPts val="1200"/>
              </a:spcAft>
            </a:pPr>
            <a:r>
              <a:rPr sz="1600">
                <a:solidFill>
                  <a:srgbClr val="333333"/>
                </a:solidFill>
                <a:latin typeface="Calibri"/>
              </a:rPr>
              <a:t>•  Real-time feedback on energy usage reduces consumption by 5–15% in residential settings (Faruqui et al., 2010)</a:t>
            </a:r>
          </a:p>
          <a:p>
            <a:pPr>
              <a:lnSpc>
                <a:spcPct val="125000"/>
              </a:lnSpc>
              <a:spcAft>
                <a:spcPts val="1200"/>
              </a:spcAft>
            </a:pPr>
            <a:r>
              <a:rPr sz="1600">
                <a:solidFill>
                  <a:srgbClr val="333333"/>
                </a:solidFill>
                <a:latin typeface="Calibri"/>
              </a:rPr>
              <a:t>•  This project proposes a simulation-based IoT smart energy monitoring and alert system for residential buildings</a:t>
            </a:r>
          </a:p>
        </p:txBody>
      </p:sp>
      <p:sp>
        <p:nvSpPr>
          <p:cNvPr id="5" name="Rectangle 4"/>
          <p:cNvSpPr/>
          <p:nvPr/>
        </p:nvSpPr>
        <p:spPr>
          <a:xfrm>
            <a:off x="457200" y="6537960"/>
            <a:ext cx="11277295"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0" y="6446520"/>
            <a:ext cx="640080" cy="320040"/>
          </a:xfrm>
          <a:prstGeom prst="rect">
            <a:avLst/>
          </a:prstGeom>
          <a:noFill/>
        </p:spPr>
        <p:txBody>
          <a:bodyPr wrap="none">
            <a:spAutoFit/>
          </a:bodyPr>
          <a:lstStyle/>
          <a:p>
            <a:pPr algn="r"/>
            <a:r>
              <a:rPr sz="1000">
                <a:solidFill>
                  <a:srgbClr val="333333"/>
                </a:solidFill>
                <a:latin typeface="Calibri"/>
              </a:rPr>
              <a:t>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PROBLEM STATEMENT</a:t>
            </a:r>
          </a:p>
        </p:txBody>
      </p:sp>
      <p:sp>
        <p:nvSpPr>
          <p:cNvPr id="4" name="TextBox 3"/>
          <p:cNvSpPr txBox="1"/>
          <p:nvPr/>
        </p:nvSpPr>
        <p:spPr>
          <a:xfrm>
            <a:off x="731520" y="1097280"/>
            <a:ext cx="10515600" cy="3657600"/>
          </a:xfrm>
          <a:prstGeom prst="rect">
            <a:avLst/>
          </a:prstGeom>
          <a:noFill/>
        </p:spPr>
        <p:txBody>
          <a:bodyPr wrap="square">
            <a:spAutoFit/>
          </a:bodyPr>
          <a:lstStyle/>
          <a:p>
            <a:pPr>
              <a:lnSpc>
                <a:spcPct val="125000"/>
              </a:lnSpc>
              <a:spcAft>
                <a:spcPts val="1200"/>
              </a:spcAft>
            </a:pPr>
            <a:r>
              <a:rPr sz="1600">
                <a:solidFill>
                  <a:srgbClr val="333333"/>
                </a:solidFill>
                <a:latin typeface="Calibri"/>
              </a:rPr>
              <a:t>•  Lack of awareness: Consumers cannot see appliance-level energy consumption</a:t>
            </a:r>
          </a:p>
          <a:p>
            <a:pPr>
              <a:lnSpc>
                <a:spcPct val="125000"/>
              </a:lnSpc>
              <a:spcAft>
                <a:spcPts val="1200"/>
              </a:spcAft>
            </a:pPr>
            <a:r>
              <a:rPr sz="1600">
                <a:solidFill>
                  <a:srgbClr val="333333"/>
                </a:solidFill>
                <a:latin typeface="Calibri"/>
              </a:rPr>
              <a:t>•  Delayed detection of faults: Malfunctioning appliances may go unnoticed for weeks</a:t>
            </a:r>
          </a:p>
          <a:p>
            <a:pPr>
              <a:lnSpc>
                <a:spcPct val="125000"/>
              </a:lnSpc>
              <a:spcAft>
                <a:spcPts val="1200"/>
              </a:spcAft>
            </a:pPr>
            <a:r>
              <a:rPr sz="1600">
                <a:solidFill>
                  <a:srgbClr val="333333"/>
                </a:solidFill>
                <a:latin typeface="Calibri"/>
              </a:rPr>
              <a:t>•  Peak demand blind spots: No real-time data to identify peak usage periods</a:t>
            </a:r>
          </a:p>
          <a:p>
            <a:pPr>
              <a:lnSpc>
                <a:spcPct val="125000"/>
              </a:lnSpc>
              <a:spcAft>
                <a:spcPts val="1200"/>
              </a:spcAft>
            </a:pPr>
            <a:r>
              <a:rPr sz="1600">
                <a:solidFill>
                  <a:srgbClr val="333333"/>
                </a:solidFill>
                <a:latin typeface="Calibri"/>
              </a:rPr>
              <a:t>•  No alert mechanism: Existing meters do not notify users of abnormal conditions</a:t>
            </a:r>
          </a:p>
          <a:p>
            <a:pPr>
              <a:lnSpc>
                <a:spcPct val="125000"/>
              </a:lnSpc>
              <a:spcAft>
                <a:spcPts val="1200"/>
              </a:spcAft>
            </a:pPr>
            <a:r>
              <a:rPr sz="1600">
                <a:solidFill>
                  <a:srgbClr val="333333"/>
                </a:solidFill>
                <a:latin typeface="Calibri"/>
              </a:rPr>
              <a:t>•  Existing IoT solutions require expensive hardware and cloud subscriptions</a:t>
            </a:r>
          </a:p>
        </p:txBody>
      </p:sp>
      <p:sp>
        <p:nvSpPr>
          <p:cNvPr id="5" name="Rounded Rectangle 4"/>
          <p:cNvSpPr/>
          <p:nvPr/>
        </p:nvSpPr>
        <p:spPr>
          <a:xfrm>
            <a:off x="914400" y="4389120"/>
            <a:ext cx="10058400" cy="1371600"/>
          </a:xfrm>
          <a:prstGeom prst="roundRect">
            <a:avLst/>
          </a:prstGeom>
          <a:solidFill>
            <a:srgbClr val="DCEBFA"/>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wrap="square" lIns="182880" tIns="137160" rIns="182880" rtlCol="0" anchor="ctr"/>
          <a:lstStyle/>
          <a:p>
            <a:pPr algn="l"/>
            <a:r>
              <a:rPr sz="1600" b="1">
                <a:solidFill>
                  <a:srgbClr val="003366"/>
                </a:solidFill>
                <a:latin typeface="Calibri"/>
              </a:rPr>
              <a:t>Research Question:</a:t>
            </a:r>
          </a:p>
          <a:p>
            <a:pPr algn="l">
              <a:spcBef>
                <a:spcPts val="600"/>
              </a:spcBef>
            </a:pPr>
            <a:r>
              <a:rPr sz="1500">
                <a:solidFill>
                  <a:srgbClr val="333333"/>
                </a:solidFill>
                <a:latin typeface="Calibri"/>
              </a:rPr>
              <a:t>How can an IoT-based smart energy monitoring network with an alert system be designed and simulated without physical hardware investment?</a:t>
            </a:r>
          </a:p>
        </p:txBody>
      </p:sp>
      <p:sp>
        <p:nvSpPr>
          <p:cNvPr id="6" name="Rectangle 5"/>
          <p:cNvSpPr/>
          <p:nvPr/>
        </p:nvSpPr>
        <p:spPr>
          <a:xfrm>
            <a:off x="457200" y="6537960"/>
            <a:ext cx="11277295"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0" y="6446520"/>
            <a:ext cx="640080" cy="320040"/>
          </a:xfrm>
          <a:prstGeom prst="rect">
            <a:avLst/>
          </a:prstGeom>
          <a:noFill/>
        </p:spPr>
        <p:txBody>
          <a:bodyPr wrap="none">
            <a:spAutoFit/>
          </a:bodyPr>
          <a:lstStyle/>
          <a:p>
            <a:pPr algn="r"/>
            <a:r>
              <a:rPr sz="1000">
                <a:solidFill>
                  <a:srgbClr val="333333"/>
                </a:solidFill>
                <a:latin typeface="Calibri"/>
              </a:rPr>
              <a:t>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AIM AND OBJECTIVES</a:t>
            </a:r>
          </a:p>
        </p:txBody>
      </p:sp>
      <p:sp>
        <p:nvSpPr>
          <p:cNvPr id="4" name="TextBox 3"/>
          <p:cNvSpPr txBox="1"/>
          <p:nvPr/>
        </p:nvSpPr>
        <p:spPr>
          <a:xfrm>
            <a:off x="731520" y="1051560"/>
            <a:ext cx="10515600" cy="365760"/>
          </a:xfrm>
          <a:prstGeom prst="rect">
            <a:avLst/>
          </a:prstGeom>
          <a:noFill/>
        </p:spPr>
        <p:txBody>
          <a:bodyPr wrap="square">
            <a:spAutoFit/>
          </a:bodyPr>
          <a:lstStyle/>
          <a:p>
            <a:r>
              <a:rPr sz="2000" b="1">
                <a:solidFill>
                  <a:srgbClr val="003366"/>
                </a:solidFill>
                <a:latin typeface="Calibri"/>
              </a:rPr>
              <a:t>Aim</a:t>
            </a:r>
          </a:p>
        </p:txBody>
      </p:sp>
      <p:sp>
        <p:nvSpPr>
          <p:cNvPr id="5" name="TextBox 4"/>
          <p:cNvSpPr txBox="1"/>
          <p:nvPr/>
        </p:nvSpPr>
        <p:spPr>
          <a:xfrm>
            <a:off x="914400" y="1463040"/>
            <a:ext cx="10058400" cy="822960"/>
          </a:xfrm>
          <a:prstGeom prst="rect">
            <a:avLst/>
          </a:prstGeom>
          <a:noFill/>
        </p:spPr>
        <p:txBody>
          <a:bodyPr wrap="square">
            <a:spAutoFit/>
          </a:bodyPr>
          <a:lstStyle/>
          <a:p>
            <a:r>
              <a:rPr sz="1500" i="1">
                <a:solidFill>
                  <a:srgbClr val="333333"/>
                </a:solidFill>
                <a:latin typeface="Calibri"/>
              </a:rPr>
              <a:t>Design and simulate an IoT-based smart energy monitoring network with an alert system providing real-time electricity consumption information for a residential building</a:t>
            </a:r>
          </a:p>
        </p:txBody>
      </p:sp>
      <p:sp>
        <p:nvSpPr>
          <p:cNvPr id="6" name="TextBox 5"/>
          <p:cNvSpPr txBox="1"/>
          <p:nvPr/>
        </p:nvSpPr>
        <p:spPr>
          <a:xfrm>
            <a:off x="731520" y="2468880"/>
            <a:ext cx="10515600" cy="365760"/>
          </a:xfrm>
          <a:prstGeom prst="rect">
            <a:avLst/>
          </a:prstGeom>
          <a:noFill/>
        </p:spPr>
        <p:txBody>
          <a:bodyPr wrap="square">
            <a:spAutoFit/>
          </a:bodyPr>
          <a:lstStyle/>
          <a:p>
            <a:r>
              <a:rPr sz="2000" b="1">
                <a:solidFill>
                  <a:srgbClr val="003366"/>
                </a:solidFill>
                <a:latin typeface="Calibri"/>
              </a:rPr>
              <a:t>Specific Objectives</a:t>
            </a:r>
          </a:p>
        </p:txBody>
      </p:sp>
      <p:sp>
        <p:nvSpPr>
          <p:cNvPr id="7" name="TextBox 6"/>
          <p:cNvSpPr txBox="1"/>
          <p:nvPr/>
        </p:nvSpPr>
        <p:spPr>
          <a:xfrm>
            <a:off x="914400" y="2926080"/>
            <a:ext cx="10058400" cy="3200400"/>
          </a:xfrm>
          <a:prstGeom prst="rect">
            <a:avLst/>
          </a:prstGeom>
          <a:noFill/>
        </p:spPr>
        <p:txBody>
          <a:bodyPr wrap="square">
            <a:spAutoFit/>
          </a:bodyPr>
          <a:lstStyle/>
          <a:p>
            <a:pPr>
              <a:lnSpc>
                <a:spcPct val="120000"/>
              </a:lnSpc>
              <a:spcAft>
                <a:spcPts val="800"/>
              </a:spcAft>
            </a:pPr>
            <a:r>
              <a:rPr sz="1500">
                <a:solidFill>
                  <a:srgbClr val="333333"/>
                </a:solidFill>
                <a:latin typeface="Calibri"/>
              </a:rPr>
              <a:t>1.   Design a system architecture for simulating multiple smart energy metres</a:t>
            </a:r>
          </a:p>
          <a:p>
            <a:pPr>
              <a:lnSpc>
                <a:spcPct val="120000"/>
              </a:lnSpc>
              <a:spcAft>
                <a:spcPts val="800"/>
              </a:spcAft>
            </a:pPr>
            <a:r>
              <a:rPr sz="1500">
                <a:solidFill>
                  <a:srgbClr val="333333"/>
                </a:solidFill>
                <a:latin typeface="Calibri"/>
              </a:rPr>
              <a:t>2.   Develop a device simulator generating realistic electrical data for 20 virtual devices</a:t>
            </a:r>
          </a:p>
          <a:p>
            <a:pPr>
              <a:lnSpc>
                <a:spcPct val="120000"/>
              </a:lnSpc>
              <a:spcAft>
                <a:spcPts val="800"/>
              </a:spcAft>
            </a:pPr>
            <a:r>
              <a:rPr sz="1500">
                <a:solidFill>
                  <a:srgbClr val="333333"/>
                </a:solidFill>
                <a:latin typeface="Calibri"/>
              </a:rPr>
              <a:t>3.   Implement a Flask backend with REST API and WebSocket support</a:t>
            </a:r>
          </a:p>
          <a:p>
            <a:pPr>
              <a:lnSpc>
                <a:spcPct val="120000"/>
              </a:lnSpc>
              <a:spcAft>
                <a:spcPts val="800"/>
              </a:spcAft>
            </a:pPr>
            <a:r>
              <a:rPr sz="1500">
                <a:solidFill>
                  <a:srgbClr val="333333"/>
                </a:solidFill>
                <a:latin typeface="Calibri"/>
              </a:rPr>
              <a:t>4.   Develop a real-time web dashboard with live charts, device cards, and status map</a:t>
            </a:r>
          </a:p>
          <a:p>
            <a:pPr>
              <a:lnSpc>
                <a:spcPct val="120000"/>
              </a:lnSpc>
              <a:spcAft>
                <a:spcPts val="800"/>
              </a:spcAft>
            </a:pPr>
            <a:r>
              <a:rPr sz="1500">
                <a:solidFill>
                  <a:srgbClr val="333333"/>
                </a:solidFill>
                <a:latin typeface="Calibri"/>
              </a:rPr>
              <a:t>5.   Implement an alert engine detecting abnormal readings and notifying users</a:t>
            </a:r>
          </a:p>
          <a:p>
            <a:pPr>
              <a:lnSpc>
                <a:spcPct val="120000"/>
              </a:lnSpc>
              <a:spcAft>
                <a:spcPts val="800"/>
              </a:spcAft>
            </a:pPr>
            <a:r>
              <a:rPr sz="1500">
                <a:solidFill>
                  <a:srgbClr val="333333"/>
                </a:solidFill>
                <a:latin typeface="Calibri"/>
              </a:rPr>
              <a:t>6.   Validate the system through unit, integration, and security testing</a:t>
            </a:r>
          </a:p>
        </p:txBody>
      </p:sp>
      <p:sp>
        <p:nvSpPr>
          <p:cNvPr id="8" name="Rectangle 7"/>
          <p:cNvSpPr/>
          <p:nvPr/>
        </p:nvSpPr>
        <p:spPr>
          <a:xfrm>
            <a:off x="457200" y="6537960"/>
            <a:ext cx="11277295"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0" y="6446520"/>
            <a:ext cx="640080" cy="320040"/>
          </a:xfrm>
          <a:prstGeom prst="rect">
            <a:avLst/>
          </a:prstGeom>
          <a:noFill/>
        </p:spPr>
        <p:txBody>
          <a:bodyPr wrap="none">
            <a:spAutoFit/>
          </a:bodyPr>
          <a:lstStyle/>
          <a:p>
            <a:pPr algn="r"/>
            <a:r>
              <a:rPr sz="1000">
                <a:solidFill>
                  <a:srgbClr val="333333"/>
                </a:solidFill>
                <a:latin typeface="Calibri"/>
              </a:rPr>
              <a:t>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SCOPE AND LIMITATIONS</a:t>
            </a:r>
          </a:p>
        </p:txBody>
      </p:sp>
      <p:sp>
        <p:nvSpPr>
          <p:cNvPr id="4" name="TextBox 3"/>
          <p:cNvSpPr txBox="1"/>
          <p:nvPr/>
        </p:nvSpPr>
        <p:spPr>
          <a:xfrm>
            <a:off x="731520" y="1051560"/>
            <a:ext cx="10515600" cy="365760"/>
          </a:xfrm>
          <a:prstGeom prst="rect">
            <a:avLst/>
          </a:prstGeom>
          <a:noFill/>
        </p:spPr>
        <p:txBody>
          <a:bodyPr wrap="square">
            <a:spAutoFit/>
          </a:bodyPr>
          <a:lstStyle/>
          <a:p>
            <a:r>
              <a:rPr sz="2000" b="1">
                <a:solidFill>
                  <a:srgbClr val="003366"/>
                </a:solidFill>
                <a:latin typeface="Calibri"/>
              </a:rPr>
              <a:t>Scope</a:t>
            </a:r>
          </a:p>
        </p:txBody>
      </p:sp>
      <p:sp>
        <p:nvSpPr>
          <p:cNvPr id="5" name="TextBox 4"/>
          <p:cNvSpPr txBox="1"/>
          <p:nvPr/>
        </p:nvSpPr>
        <p:spPr>
          <a:xfrm>
            <a:off x="914400" y="1463040"/>
            <a:ext cx="10058400" cy="2011680"/>
          </a:xfrm>
          <a:prstGeom prst="rect">
            <a:avLst/>
          </a:prstGeom>
          <a:noFill/>
        </p:spPr>
        <p:txBody>
          <a:bodyPr wrap="square">
            <a:spAutoFit/>
          </a:bodyPr>
          <a:lstStyle/>
          <a:p>
            <a:pPr>
              <a:lnSpc>
                <a:spcPct val="120000"/>
              </a:lnSpc>
              <a:spcAft>
                <a:spcPts val="600"/>
              </a:spcAft>
            </a:pPr>
            <a:r>
              <a:rPr sz="1400">
                <a:solidFill>
                  <a:srgbClr val="333333"/>
                </a:solidFill>
                <a:latin typeface="Calibri"/>
              </a:rPr>
              <a:t>•  Python-based device simulator for 20 virtual metres</a:t>
            </a:r>
          </a:p>
          <a:p>
            <a:pPr>
              <a:lnSpc>
                <a:spcPct val="120000"/>
              </a:lnSpc>
              <a:spcAft>
                <a:spcPts val="600"/>
              </a:spcAft>
            </a:pPr>
            <a:r>
              <a:rPr sz="1400">
                <a:solidFill>
                  <a:srgbClr val="333333"/>
                </a:solidFill>
                <a:latin typeface="Calibri"/>
              </a:rPr>
              <a:t>•  Flask backend with RESTful API and WebSocket support</a:t>
            </a:r>
          </a:p>
          <a:p>
            <a:pPr>
              <a:lnSpc>
                <a:spcPct val="120000"/>
              </a:lnSpc>
              <a:spcAft>
                <a:spcPts val="600"/>
              </a:spcAft>
            </a:pPr>
            <a:r>
              <a:rPr sz="1400">
                <a:solidFill>
                  <a:srgbClr val="333333"/>
                </a:solidFill>
                <a:latin typeface="Calibri"/>
              </a:rPr>
              <a:t>•  SQLite database for device, reading, and alert records</a:t>
            </a:r>
          </a:p>
          <a:p>
            <a:pPr>
              <a:lnSpc>
                <a:spcPct val="120000"/>
              </a:lnSpc>
              <a:spcAft>
                <a:spcPts val="600"/>
              </a:spcAft>
            </a:pPr>
            <a:r>
              <a:rPr sz="1400">
                <a:solidFill>
                  <a:srgbClr val="333333"/>
                </a:solidFill>
                <a:latin typeface="Calibri"/>
              </a:rPr>
              <a:t>•  Web dashboard with live charts, device cards, alert panel, and device map</a:t>
            </a:r>
          </a:p>
          <a:p>
            <a:pPr>
              <a:lnSpc>
                <a:spcPct val="120000"/>
              </a:lnSpc>
              <a:spcAft>
                <a:spcPts val="600"/>
              </a:spcAft>
            </a:pPr>
            <a:r>
              <a:rPr sz="1400">
                <a:solidFill>
                  <a:srgbClr val="333333"/>
                </a:solidFill>
                <a:latin typeface="Calibri"/>
              </a:rPr>
              <a:t>•  Alert engine with configurable thresholds</a:t>
            </a:r>
          </a:p>
        </p:txBody>
      </p:sp>
      <p:sp>
        <p:nvSpPr>
          <p:cNvPr id="6" name="TextBox 5"/>
          <p:cNvSpPr txBox="1"/>
          <p:nvPr/>
        </p:nvSpPr>
        <p:spPr>
          <a:xfrm>
            <a:off x="731520" y="3657600"/>
            <a:ext cx="10515600" cy="365760"/>
          </a:xfrm>
          <a:prstGeom prst="rect">
            <a:avLst/>
          </a:prstGeom>
          <a:noFill/>
        </p:spPr>
        <p:txBody>
          <a:bodyPr wrap="square">
            <a:spAutoFit/>
          </a:bodyPr>
          <a:lstStyle/>
          <a:p>
            <a:r>
              <a:rPr sz="2000" b="1">
                <a:solidFill>
                  <a:srgbClr val="003366"/>
                </a:solidFill>
                <a:latin typeface="Calibri"/>
              </a:rPr>
              <a:t>Limitations</a:t>
            </a:r>
          </a:p>
        </p:txBody>
      </p:sp>
      <p:sp>
        <p:nvSpPr>
          <p:cNvPr id="7" name="TextBox 6"/>
          <p:cNvSpPr txBox="1"/>
          <p:nvPr/>
        </p:nvSpPr>
        <p:spPr>
          <a:xfrm>
            <a:off x="914400" y="4069080"/>
            <a:ext cx="10058400" cy="2011680"/>
          </a:xfrm>
          <a:prstGeom prst="rect">
            <a:avLst/>
          </a:prstGeom>
          <a:noFill/>
        </p:spPr>
        <p:txBody>
          <a:bodyPr wrap="square">
            <a:spAutoFit/>
          </a:bodyPr>
          <a:lstStyle/>
          <a:p>
            <a:pPr>
              <a:lnSpc>
                <a:spcPct val="120000"/>
              </a:lnSpc>
              <a:spcAft>
                <a:spcPts val="600"/>
              </a:spcAft>
            </a:pPr>
            <a:r>
              <a:rPr sz="1400">
                <a:solidFill>
                  <a:srgbClr val="333333"/>
                </a:solidFill>
                <a:latin typeface="Calibri"/>
              </a:rPr>
              <a:t>•  System is simulated — no physical sensors, microcontrollers, or electrical wiring</a:t>
            </a:r>
          </a:p>
          <a:p>
            <a:pPr>
              <a:lnSpc>
                <a:spcPct val="120000"/>
              </a:lnSpc>
              <a:spcAft>
                <a:spcPts val="600"/>
              </a:spcAft>
            </a:pPr>
            <a:r>
              <a:rPr sz="1400">
                <a:solidFill>
                  <a:srgbClr val="333333"/>
                </a:solidFill>
                <a:latin typeface="Calibri"/>
              </a:rPr>
              <a:t>•  Runs on local network (LAN) — not deployed to cloud</a:t>
            </a:r>
          </a:p>
          <a:p>
            <a:pPr>
              <a:lnSpc>
                <a:spcPct val="120000"/>
              </a:lnSpc>
              <a:spcAft>
                <a:spcPts val="600"/>
              </a:spcAft>
            </a:pPr>
            <a:r>
              <a:rPr sz="1400">
                <a:solidFill>
                  <a:srgbClr val="333333"/>
                </a:solidFill>
                <a:latin typeface="Calibri"/>
              </a:rPr>
              <a:t>•  No mobile application — access limited to desktop browsers</a:t>
            </a:r>
          </a:p>
          <a:p>
            <a:pPr>
              <a:lnSpc>
                <a:spcPct val="120000"/>
              </a:lnSpc>
              <a:spcAft>
                <a:spcPts val="600"/>
              </a:spcAft>
            </a:pPr>
            <a:r>
              <a:rPr sz="1400">
                <a:solidFill>
                  <a:srgbClr val="333333"/>
                </a:solidFill>
                <a:latin typeface="Calibri"/>
              </a:rPr>
              <a:t>•  Alert engine uses simulated thresholds — real-world calibration requires domain expertise</a:t>
            </a:r>
          </a:p>
          <a:p>
            <a:pPr>
              <a:lnSpc>
                <a:spcPct val="120000"/>
              </a:lnSpc>
              <a:spcAft>
                <a:spcPts val="600"/>
              </a:spcAft>
            </a:pPr>
            <a:r>
              <a:rPr sz="1400">
                <a:solidFill>
                  <a:srgbClr val="333333"/>
                </a:solidFill>
                <a:latin typeface="Calibri"/>
              </a:rPr>
              <a:t>•  Hardware challenges (sensor calibration, network reliability) not addressed</a:t>
            </a:r>
          </a:p>
        </p:txBody>
      </p:sp>
      <p:sp>
        <p:nvSpPr>
          <p:cNvPr id="8" name="Rectangle 7"/>
          <p:cNvSpPr/>
          <p:nvPr/>
        </p:nvSpPr>
        <p:spPr>
          <a:xfrm>
            <a:off x="457200" y="6537960"/>
            <a:ext cx="11277295"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0" y="6446520"/>
            <a:ext cx="640080" cy="320040"/>
          </a:xfrm>
          <a:prstGeom prst="rect">
            <a:avLst/>
          </a:prstGeom>
          <a:noFill/>
        </p:spPr>
        <p:txBody>
          <a:bodyPr wrap="none">
            <a:spAutoFit/>
          </a:bodyPr>
          <a:lstStyle/>
          <a:p>
            <a:pPr algn="r"/>
            <a:r>
              <a:rPr sz="1000">
                <a:solidFill>
                  <a:srgbClr val="333333"/>
                </a:solidFill>
                <a:latin typeface="Calibri"/>
              </a:rPr>
              <a:t>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LITERATURE REVIEW</a:t>
            </a:r>
          </a:p>
        </p:txBody>
      </p:sp>
      <p:graphicFrame>
        <p:nvGraphicFramePr>
          <p:cNvPr id="4" name="Table 3"/>
          <p:cNvGraphicFramePr>
            <a:graphicFrameLocks noGrp="1"/>
          </p:cNvGraphicFramePr>
          <p:nvPr/>
        </p:nvGraphicFramePr>
        <p:xfrm>
          <a:off x="731520" y="1188720"/>
          <a:ext cx="10515600" cy="320040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640080">
                <a:tc>
                  <a:txBody>
                    <a:bodyPr/>
                    <a:lstStyle/>
                    <a:p>
                      <a:pPr algn="ctr"/>
                      <a:r>
                        <a:rPr sz="1300" b="1">
                          <a:solidFill>
                            <a:srgbClr val="FFFFFF"/>
                          </a:solidFill>
                          <a:latin typeface="Calibri"/>
                        </a:rPr>
                        <a:t>System</a:t>
                      </a:r>
                    </a:p>
                  </a:txBody>
                  <a:tcPr>
                    <a:solidFill>
                      <a:srgbClr val="003366"/>
                    </a:solidFill>
                  </a:tcPr>
                </a:tc>
                <a:tc>
                  <a:txBody>
                    <a:bodyPr/>
                    <a:lstStyle/>
                    <a:p>
                      <a:pPr algn="ctr"/>
                      <a:r>
                        <a:rPr sz="1300" b="1">
                          <a:solidFill>
                            <a:srgbClr val="FFFFFF"/>
                          </a:solidFill>
                          <a:latin typeface="Calibri"/>
                        </a:rPr>
                        <a:t>Type</a:t>
                      </a:r>
                    </a:p>
                  </a:txBody>
                  <a:tcPr>
                    <a:solidFill>
                      <a:srgbClr val="003366"/>
                    </a:solidFill>
                  </a:tcPr>
                </a:tc>
                <a:tc>
                  <a:txBody>
                    <a:bodyPr/>
                    <a:lstStyle/>
                    <a:p>
                      <a:pPr algn="ctr"/>
                      <a:r>
                        <a:rPr sz="1300" b="1">
                          <a:solidFill>
                            <a:srgbClr val="FFFFFF"/>
                          </a:solidFill>
                          <a:latin typeface="Calibri"/>
                        </a:rPr>
                        <a:t>Strengths</a:t>
                      </a:r>
                    </a:p>
                  </a:txBody>
                  <a:tcPr>
                    <a:solidFill>
                      <a:srgbClr val="003366"/>
                    </a:solidFill>
                  </a:tcPr>
                </a:tc>
                <a:tc>
                  <a:txBody>
                    <a:bodyPr/>
                    <a:lstStyle/>
                    <a:p>
                      <a:pPr algn="ctr"/>
                      <a:r>
                        <a:rPr sz="1300" b="1">
                          <a:solidFill>
                            <a:srgbClr val="FFFFFF"/>
                          </a:solidFill>
                          <a:latin typeface="Calibri"/>
                        </a:rPr>
                        <a:t>Weaknesses</a:t>
                      </a:r>
                    </a:p>
                  </a:txBody>
                  <a:tcPr>
                    <a:solidFill>
                      <a:srgbClr val="003366"/>
                    </a:solidFill>
                  </a:tcPr>
                </a:tc>
                <a:extLst>
                  <a:ext uri="{0D108BD9-81ED-4DB2-BD59-A6C34878D82A}">
                    <a16:rowId xmlns:a16="http://schemas.microsoft.com/office/drawing/2014/main" val="10000"/>
                  </a:ext>
                </a:extLst>
              </a:tr>
              <a:tr h="640080">
                <a:tc>
                  <a:txBody>
                    <a:bodyPr/>
                    <a:lstStyle/>
                    <a:p>
                      <a:pPr algn="ctr"/>
                      <a:r>
                        <a:rPr sz="1200">
                          <a:solidFill>
                            <a:srgbClr val="333333"/>
                          </a:solidFill>
                          <a:latin typeface="Calibri"/>
                        </a:rPr>
                        <a:t>AWS IoT Core</a:t>
                      </a:r>
                    </a:p>
                  </a:txBody>
                  <a:tcPr>
                    <a:solidFill>
                      <a:srgbClr val="FFFFFF"/>
                    </a:solidFill>
                  </a:tcPr>
                </a:tc>
                <a:tc>
                  <a:txBody>
                    <a:bodyPr/>
                    <a:lstStyle/>
                    <a:p>
                      <a:pPr algn="ctr"/>
                      <a:r>
                        <a:rPr sz="1200">
                          <a:solidFill>
                            <a:srgbClr val="333333"/>
                          </a:solidFill>
                          <a:latin typeface="Calibri"/>
                        </a:rPr>
                        <a:t>Cloud (Managed)</a:t>
                      </a:r>
                    </a:p>
                  </a:txBody>
                  <a:tcPr>
                    <a:solidFill>
                      <a:srgbClr val="FFFFFF"/>
                    </a:solidFill>
                  </a:tcPr>
                </a:tc>
                <a:tc>
                  <a:txBody>
                    <a:bodyPr/>
                    <a:lstStyle/>
                    <a:p>
                      <a:pPr algn="ctr"/>
                      <a:r>
                        <a:rPr sz="1200">
                          <a:solidFill>
                            <a:srgbClr val="333333"/>
                          </a:solidFill>
                          <a:latin typeface="Calibri"/>
                        </a:rPr>
                        <a:t>Enterprise-grade,</a:t>
                      </a:r>
                    </a:p>
                    <a:p>
                      <a:pPr algn="ctr"/>
                      <a:r>
                        <a:rPr sz="1200">
                          <a:solidFill>
                            <a:srgbClr val="333333"/>
                          </a:solidFill>
                          <a:latin typeface="Calibri"/>
                        </a:rPr>
                        <a:t>scalable, secure</a:t>
                      </a:r>
                    </a:p>
                  </a:txBody>
                  <a:tcPr>
                    <a:solidFill>
                      <a:srgbClr val="FFFFFF"/>
                    </a:solidFill>
                  </a:tcPr>
                </a:tc>
                <a:tc>
                  <a:txBody>
                    <a:bodyPr/>
                    <a:lstStyle/>
                    <a:p>
                      <a:pPr algn="ctr"/>
                      <a:r>
                        <a:rPr sz="1200">
                          <a:solidFill>
                            <a:srgbClr val="333333"/>
                          </a:solidFill>
                          <a:latin typeface="Calibri"/>
                        </a:rPr>
                        <a:t>Expensive, complex,</a:t>
                      </a:r>
                    </a:p>
                    <a:p>
                      <a:pPr algn="ctr"/>
                      <a:r>
                        <a:rPr sz="1200">
                          <a:solidFill>
                            <a:srgbClr val="333333"/>
                          </a:solidFill>
                          <a:latin typeface="Calibri"/>
                        </a:rPr>
                        <a:t>vendor lock-in</a:t>
                      </a:r>
                    </a:p>
                  </a:txBody>
                  <a:tcPr>
                    <a:solidFill>
                      <a:srgbClr val="FFFFFF"/>
                    </a:solidFill>
                  </a:tcPr>
                </a:tc>
                <a:extLst>
                  <a:ext uri="{0D108BD9-81ED-4DB2-BD59-A6C34878D82A}">
                    <a16:rowId xmlns:a16="http://schemas.microsoft.com/office/drawing/2014/main" val="10001"/>
                  </a:ext>
                </a:extLst>
              </a:tr>
              <a:tr h="640080">
                <a:tc>
                  <a:txBody>
                    <a:bodyPr/>
                    <a:lstStyle/>
                    <a:p>
                      <a:pPr algn="ctr"/>
                      <a:r>
                        <a:rPr sz="1200">
                          <a:solidFill>
                            <a:srgbClr val="333333"/>
                          </a:solidFill>
                          <a:latin typeface="Calibri"/>
                        </a:rPr>
                        <a:t>openHAB</a:t>
                      </a:r>
                    </a:p>
                  </a:txBody>
                  <a:tcPr>
                    <a:solidFill>
                      <a:srgbClr val="F0F0F0"/>
                    </a:solidFill>
                  </a:tcPr>
                </a:tc>
                <a:tc>
                  <a:txBody>
                    <a:bodyPr/>
                    <a:lstStyle/>
                    <a:p>
                      <a:pPr algn="ctr"/>
                      <a:r>
                        <a:rPr sz="1200">
                          <a:solidFill>
                            <a:srgbClr val="333333"/>
                          </a:solidFill>
                          <a:latin typeface="Calibri"/>
                        </a:rPr>
                        <a:t>Open-source (Local)</a:t>
                      </a:r>
                    </a:p>
                  </a:txBody>
                  <a:tcPr>
                    <a:solidFill>
                      <a:srgbClr val="F0F0F0"/>
                    </a:solidFill>
                  </a:tcPr>
                </a:tc>
                <a:tc>
                  <a:txBody>
                    <a:bodyPr/>
                    <a:lstStyle/>
                    <a:p>
                      <a:pPr algn="ctr"/>
                      <a:r>
                        <a:rPr sz="1200">
                          <a:solidFill>
                            <a:srgbClr val="333333"/>
                          </a:solidFill>
                          <a:latin typeface="Calibri"/>
                        </a:rPr>
                        <a:t>Free, 200+ devices,</a:t>
                      </a:r>
                    </a:p>
                    <a:p>
                      <a:pPr algn="ctr"/>
                      <a:r>
                        <a:rPr sz="1200">
                          <a:solidFill>
                            <a:srgbClr val="333333"/>
                          </a:solidFill>
                          <a:latin typeface="Calibri"/>
                        </a:rPr>
                        <a:t>local processing</a:t>
                      </a:r>
                    </a:p>
                  </a:txBody>
                  <a:tcPr>
                    <a:solidFill>
                      <a:srgbClr val="F0F0F0"/>
                    </a:solidFill>
                  </a:tcPr>
                </a:tc>
                <a:tc>
                  <a:txBody>
                    <a:bodyPr/>
                    <a:lstStyle/>
                    <a:p>
                      <a:pPr algn="ctr"/>
                      <a:r>
                        <a:rPr sz="1200">
                          <a:solidFill>
                            <a:srgbClr val="333333"/>
                          </a:solidFill>
                          <a:latin typeface="Calibri"/>
                        </a:rPr>
                        <a:t>Steep learning curve,</a:t>
                      </a:r>
                    </a:p>
                    <a:p>
                      <a:pPr algn="ctr"/>
                      <a:r>
                        <a:rPr sz="1200">
                          <a:solidFill>
                            <a:srgbClr val="333333"/>
                          </a:solidFill>
                          <a:latin typeface="Calibri"/>
                        </a:rPr>
                        <a:t>Java-heavy</a:t>
                      </a:r>
                    </a:p>
                  </a:txBody>
                  <a:tcPr>
                    <a:solidFill>
                      <a:srgbClr val="F0F0F0"/>
                    </a:solidFill>
                  </a:tcPr>
                </a:tc>
                <a:extLst>
                  <a:ext uri="{0D108BD9-81ED-4DB2-BD59-A6C34878D82A}">
                    <a16:rowId xmlns:a16="http://schemas.microsoft.com/office/drawing/2014/main" val="10002"/>
                  </a:ext>
                </a:extLst>
              </a:tr>
              <a:tr h="640080">
                <a:tc>
                  <a:txBody>
                    <a:bodyPr/>
                    <a:lstStyle/>
                    <a:p>
                      <a:pPr algn="ctr"/>
                      <a:r>
                        <a:rPr sz="1200">
                          <a:solidFill>
                            <a:srgbClr val="333333"/>
                          </a:solidFill>
                          <a:latin typeface="Calibri"/>
                        </a:rPr>
                        <a:t>Blynk IoT</a:t>
                      </a:r>
                    </a:p>
                  </a:txBody>
                  <a:tcPr>
                    <a:solidFill>
                      <a:srgbClr val="FFFFFF"/>
                    </a:solidFill>
                  </a:tcPr>
                </a:tc>
                <a:tc>
                  <a:txBody>
                    <a:bodyPr/>
                    <a:lstStyle/>
                    <a:p>
                      <a:pPr algn="ctr"/>
                      <a:r>
                        <a:rPr sz="1200">
                          <a:solidFill>
                            <a:srgbClr val="333333"/>
                          </a:solidFill>
                          <a:latin typeface="Calibri"/>
                        </a:rPr>
                        <a:t>Cloud (Low-code)</a:t>
                      </a:r>
                    </a:p>
                  </a:txBody>
                  <a:tcPr>
                    <a:solidFill>
                      <a:srgbClr val="FFFFFF"/>
                    </a:solidFill>
                  </a:tcPr>
                </a:tc>
                <a:tc>
                  <a:txBody>
                    <a:bodyPr/>
                    <a:lstStyle/>
                    <a:p>
                      <a:pPr algn="ctr"/>
                      <a:r>
                        <a:rPr sz="1200">
                          <a:solidFill>
                            <a:srgbClr val="333333"/>
                          </a:solidFill>
                          <a:latin typeface="Calibri"/>
                        </a:rPr>
                        <a:t>Rapid prototyping,</a:t>
                      </a:r>
                    </a:p>
                    <a:p>
                      <a:pPr algn="ctr"/>
                      <a:r>
                        <a:rPr sz="1200">
                          <a:solidFill>
                            <a:srgbClr val="333333"/>
                          </a:solidFill>
                          <a:latin typeface="Calibri"/>
                        </a:rPr>
                        <a:t>mobile-first</a:t>
                      </a:r>
                    </a:p>
                  </a:txBody>
                  <a:tcPr>
                    <a:solidFill>
                      <a:srgbClr val="FFFFFF"/>
                    </a:solidFill>
                  </a:tcPr>
                </a:tc>
                <a:tc>
                  <a:txBody>
                    <a:bodyPr/>
                    <a:lstStyle/>
                    <a:p>
                      <a:pPr algn="ctr"/>
                      <a:r>
                        <a:rPr sz="1200">
                          <a:solidFill>
                            <a:srgbClr val="333333"/>
                          </a:solidFill>
                          <a:latin typeface="Calibri"/>
                        </a:rPr>
                        <a:t>No web dashboard,</a:t>
                      </a:r>
                    </a:p>
                    <a:p>
                      <a:pPr algn="ctr"/>
                      <a:r>
                        <a:rPr sz="1200">
                          <a:solidFill>
                            <a:srgbClr val="333333"/>
                          </a:solidFill>
                          <a:latin typeface="Calibri"/>
                        </a:rPr>
                        <a:t>cloud dependency</a:t>
                      </a:r>
                    </a:p>
                  </a:txBody>
                  <a:tcPr>
                    <a:solidFill>
                      <a:srgbClr val="FFFFFF"/>
                    </a:solidFill>
                  </a:tcPr>
                </a:tc>
                <a:extLst>
                  <a:ext uri="{0D108BD9-81ED-4DB2-BD59-A6C34878D82A}">
                    <a16:rowId xmlns:a16="http://schemas.microsoft.com/office/drawing/2014/main" val="10003"/>
                  </a:ext>
                </a:extLst>
              </a:tr>
              <a:tr h="640080">
                <a:tc>
                  <a:txBody>
                    <a:bodyPr/>
                    <a:lstStyle/>
                    <a:p>
                      <a:pPr algn="ctr"/>
                      <a:r>
                        <a:rPr sz="1200">
                          <a:solidFill>
                            <a:srgbClr val="333333"/>
                          </a:solidFill>
                          <a:latin typeface="Calibri"/>
                        </a:rPr>
                        <a:t>ESP32+PZEM-004T</a:t>
                      </a:r>
                    </a:p>
                  </a:txBody>
                  <a:tcPr>
                    <a:solidFill>
                      <a:srgbClr val="F0F0F0"/>
                    </a:solidFill>
                  </a:tcPr>
                </a:tc>
                <a:tc>
                  <a:txBody>
                    <a:bodyPr/>
                    <a:lstStyle/>
                    <a:p>
                      <a:pPr algn="ctr"/>
                      <a:r>
                        <a:rPr sz="1200">
                          <a:solidFill>
                            <a:srgbClr val="333333"/>
                          </a:solidFill>
                          <a:latin typeface="Calibri"/>
                        </a:rPr>
                        <a:t>Hardware (DIY)</a:t>
                      </a:r>
                    </a:p>
                  </a:txBody>
                  <a:tcPr>
                    <a:solidFill>
                      <a:srgbClr val="F0F0F0"/>
                    </a:solidFill>
                  </a:tcPr>
                </a:tc>
                <a:tc>
                  <a:txBody>
                    <a:bodyPr/>
                    <a:lstStyle/>
                    <a:p>
                      <a:pPr algn="ctr"/>
                      <a:r>
                        <a:rPr sz="1200">
                          <a:solidFill>
                            <a:srgbClr val="333333"/>
                          </a:solidFill>
                          <a:latin typeface="Calibri"/>
                        </a:rPr>
                        <a:t>Low-cost, real</a:t>
                      </a:r>
                    </a:p>
                    <a:p>
                      <a:pPr algn="ctr"/>
                      <a:r>
                        <a:rPr sz="1200">
                          <a:solidFill>
                            <a:srgbClr val="333333"/>
                          </a:solidFill>
                          <a:latin typeface="Calibri"/>
                        </a:rPr>
                        <a:t>measurements</a:t>
                      </a:r>
                    </a:p>
                  </a:txBody>
                  <a:tcPr>
                    <a:solidFill>
                      <a:srgbClr val="F0F0F0"/>
                    </a:solidFill>
                  </a:tcPr>
                </a:tc>
                <a:tc>
                  <a:txBody>
                    <a:bodyPr/>
                    <a:lstStyle/>
                    <a:p>
                      <a:pPr algn="ctr"/>
                      <a:r>
                        <a:rPr sz="1200">
                          <a:solidFill>
                            <a:srgbClr val="333333"/>
                          </a:solidFill>
                          <a:latin typeface="Calibri"/>
                        </a:rPr>
                        <a:t>Requires wiring,</a:t>
                      </a:r>
                    </a:p>
                    <a:p>
                      <a:pPr algn="ctr"/>
                      <a:r>
                        <a:rPr sz="1200">
                          <a:solidFill>
                            <a:srgbClr val="333333"/>
                          </a:solidFill>
                          <a:latin typeface="Calibri"/>
                        </a:rPr>
                        <a:t>no built-in dashboard</a:t>
                      </a:r>
                    </a:p>
                  </a:txBody>
                  <a:tcPr>
                    <a:solidFill>
                      <a:srgbClr val="F0F0F0"/>
                    </a:solidFill>
                  </a:tcPr>
                </a:tc>
                <a:extLst>
                  <a:ext uri="{0D108BD9-81ED-4DB2-BD59-A6C34878D82A}">
                    <a16:rowId xmlns:a16="http://schemas.microsoft.com/office/drawing/2014/main" val="10004"/>
                  </a:ext>
                </a:extLst>
              </a:tr>
            </a:tbl>
          </a:graphicData>
        </a:graphic>
      </p:graphicFrame>
      <p:sp>
        <p:nvSpPr>
          <p:cNvPr id="5" name="Rounded Rectangle 4"/>
          <p:cNvSpPr/>
          <p:nvPr/>
        </p:nvSpPr>
        <p:spPr>
          <a:xfrm>
            <a:off x="914400" y="4572000"/>
            <a:ext cx="10058400" cy="914400"/>
          </a:xfrm>
          <a:prstGeom prst="roundRect">
            <a:avLst/>
          </a:prstGeom>
          <a:solidFill>
            <a:srgbClr val="DCEBFA"/>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wrap="square" lIns="182880" tIns="91440" rtlCol="0" anchor="ctr"/>
          <a:lstStyle/>
          <a:p>
            <a:pPr algn="ctr"/>
            <a:r>
              <a:rPr sz="1600" b="1">
                <a:solidFill>
                  <a:srgbClr val="003366"/>
                </a:solidFill>
                <a:latin typeface="Calibri"/>
              </a:rPr>
              <a:t>Our System:  Fully simulation-based, real-time WebSocket, lightweight Python/Flask, zero hardware cost</a:t>
            </a:r>
          </a:p>
        </p:txBody>
      </p:sp>
      <p:sp>
        <p:nvSpPr>
          <p:cNvPr id="6" name="Rectangle 5"/>
          <p:cNvSpPr/>
          <p:nvPr/>
        </p:nvSpPr>
        <p:spPr>
          <a:xfrm>
            <a:off x="457200" y="6537960"/>
            <a:ext cx="11277295"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0" y="6446520"/>
            <a:ext cx="640080" cy="320040"/>
          </a:xfrm>
          <a:prstGeom prst="rect">
            <a:avLst/>
          </a:prstGeom>
          <a:noFill/>
        </p:spPr>
        <p:txBody>
          <a:bodyPr wrap="none">
            <a:spAutoFit/>
          </a:bodyPr>
          <a:lstStyle/>
          <a:p>
            <a:pPr algn="r"/>
            <a:r>
              <a:rPr sz="1000">
                <a:solidFill>
                  <a:srgbClr val="333333"/>
                </a:solidFill>
                <a:latin typeface="Calibri"/>
              </a:rPr>
              <a:t>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METHODOLOGY — AGILE (SCRUM)</a:t>
            </a:r>
          </a:p>
        </p:txBody>
      </p:sp>
      <p:sp>
        <p:nvSpPr>
          <p:cNvPr id="4" name="TextBox 3"/>
          <p:cNvSpPr txBox="1"/>
          <p:nvPr/>
        </p:nvSpPr>
        <p:spPr>
          <a:xfrm>
            <a:off x="731520" y="1051560"/>
            <a:ext cx="10515600" cy="365760"/>
          </a:xfrm>
          <a:prstGeom prst="rect">
            <a:avLst/>
          </a:prstGeom>
          <a:noFill/>
        </p:spPr>
        <p:txBody>
          <a:bodyPr wrap="square">
            <a:spAutoFit/>
          </a:bodyPr>
          <a:lstStyle/>
          <a:p>
            <a:r>
              <a:rPr sz="2000" b="1">
                <a:solidFill>
                  <a:srgbClr val="003366"/>
                </a:solidFill>
                <a:latin typeface="Calibri"/>
              </a:rPr>
              <a:t>Why Agile?</a:t>
            </a:r>
          </a:p>
        </p:txBody>
      </p:sp>
      <p:sp>
        <p:nvSpPr>
          <p:cNvPr id="5" name="TextBox 4"/>
          <p:cNvSpPr txBox="1"/>
          <p:nvPr/>
        </p:nvSpPr>
        <p:spPr>
          <a:xfrm>
            <a:off x="914400" y="1463040"/>
            <a:ext cx="10058400" cy="1371600"/>
          </a:xfrm>
          <a:prstGeom prst="rect">
            <a:avLst/>
          </a:prstGeom>
          <a:noFill/>
        </p:spPr>
        <p:txBody>
          <a:bodyPr wrap="square">
            <a:spAutoFit/>
          </a:bodyPr>
          <a:lstStyle/>
          <a:p>
            <a:pPr>
              <a:spcAft>
                <a:spcPts val="600"/>
              </a:spcAft>
            </a:pPr>
            <a:r>
              <a:rPr sz="1500">
                <a:solidFill>
                  <a:srgbClr val="333333"/>
                </a:solidFill>
                <a:latin typeface="Calibri"/>
              </a:rPr>
              <a:t>•  Iterative development with rapid feedback</a:t>
            </a:r>
          </a:p>
          <a:p>
            <a:pPr>
              <a:spcAft>
                <a:spcPts val="600"/>
              </a:spcAft>
            </a:pPr>
            <a:r>
              <a:rPr sz="1500">
                <a:solidFill>
                  <a:srgbClr val="333333"/>
                </a:solidFill>
                <a:latin typeface="Calibri"/>
              </a:rPr>
              <a:t>•  Accommodates changing requirements</a:t>
            </a:r>
          </a:p>
          <a:p>
            <a:pPr>
              <a:spcAft>
                <a:spcPts val="600"/>
              </a:spcAft>
            </a:pPr>
            <a:r>
              <a:rPr sz="1500">
                <a:solidFill>
                  <a:srgbClr val="333333"/>
                </a:solidFill>
                <a:latin typeface="Calibri"/>
              </a:rPr>
              <a:t>•  Early integration testing reduces late-stage risk</a:t>
            </a:r>
          </a:p>
        </p:txBody>
      </p:sp>
      <p:sp>
        <p:nvSpPr>
          <p:cNvPr id="6" name="TextBox 5"/>
          <p:cNvSpPr txBox="1"/>
          <p:nvPr/>
        </p:nvSpPr>
        <p:spPr>
          <a:xfrm>
            <a:off x="731520" y="3017520"/>
            <a:ext cx="10515600" cy="365760"/>
          </a:xfrm>
          <a:prstGeom prst="rect">
            <a:avLst/>
          </a:prstGeom>
          <a:noFill/>
        </p:spPr>
        <p:txBody>
          <a:bodyPr wrap="square">
            <a:spAutoFit/>
          </a:bodyPr>
          <a:lstStyle/>
          <a:p>
            <a:r>
              <a:rPr sz="2000" b="1">
                <a:solidFill>
                  <a:srgbClr val="003366"/>
                </a:solidFill>
                <a:latin typeface="Calibri"/>
              </a:rPr>
              <a:t>12-Week Sprint Plan</a:t>
            </a:r>
          </a:p>
        </p:txBody>
      </p:sp>
      <p:graphicFrame>
        <p:nvGraphicFramePr>
          <p:cNvPr id="7" name="Table 6"/>
          <p:cNvGraphicFramePr>
            <a:graphicFrameLocks noGrp="1"/>
          </p:cNvGraphicFramePr>
          <p:nvPr/>
        </p:nvGraphicFramePr>
        <p:xfrm>
          <a:off x="914400" y="3429000"/>
          <a:ext cx="9601200" cy="2688336"/>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384048">
                <a:tc>
                  <a:txBody>
                    <a:bodyPr/>
                    <a:lstStyle/>
                    <a:p>
                      <a:pPr algn="ctr"/>
                      <a:r>
                        <a:rPr sz="1300" b="1">
                          <a:solidFill>
                            <a:srgbClr val="FFFFFF"/>
                          </a:solidFill>
                          <a:latin typeface="Calibri"/>
                        </a:rPr>
                        <a:t>Phase</a:t>
                      </a:r>
                    </a:p>
                  </a:txBody>
                  <a:tcPr>
                    <a:solidFill>
                      <a:srgbClr val="003366"/>
                    </a:solidFill>
                  </a:tcPr>
                </a:tc>
                <a:tc>
                  <a:txBody>
                    <a:bodyPr/>
                    <a:lstStyle/>
                    <a:p>
                      <a:pPr algn="ctr"/>
                      <a:r>
                        <a:rPr sz="1300" b="1">
                          <a:solidFill>
                            <a:srgbClr val="FFFFFF"/>
                          </a:solidFill>
                          <a:latin typeface="Calibri"/>
                        </a:rPr>
                        <a:t>Duration</a:t>
                      </a:r>
                    </a:p>
                  </a:txBody>
                  <a:tcPr>
                    <a:solidFill>
                      <a:srgbClr val="003366"/>
                    </a:solidFill>
                  </a:tcPr>
                </a:tc>
                <a:tc>
                  <a:txBody>
                    <a:bodyPr/>
                    <a:lstStyle/>
                    <a:p>
                      <a:pPr algn="ctr"/>
                      <a:r>
                        <a:rPr sz="1300" b="1">
                          <a:solidFill>
                            <a:srgbClr val="FFFFFF"/>
                          </a:solidFill>
                          <a:latin typeface="Calibri"/>
                        </a:rPr>
                        <a:t>Deliverable</a:t>
                      </a:r>
                    </a:p>
                  </a:txBody>
                  <a:tcPr>
                    <a:solidFill>
                      <a:srgbClr val="003366"/>
                    </a:solidFill>
                  </a:tcPr>
                </a:tc>
                <a:extLst>
                  <a:ext uri="{0D108BD9-81ED-4DB2-BD59-A6C34878D82A}">
                    <a16:rowId xmlns:a16="http://schemas.microsoft.com/office/drawing/2014/main" val="10000"/>
                  </a:ext>
                </a:extLst>
              </a:tr>
              <a:tr h="384048">
                <a:tc>
                  <a:txBody>
                    <a:bodyPr/>
                    <a:lstStyle/>
                    <a:p>
                      <a:pPr algn="ctr"/>
                      <a:r>
                        <a:rPr sz="1200">
                          <a:solidFill>
                            <a:srgbClr val="333333"/>
                          </a:solidFill>
                          <a:latin typeface="Calibri"/>
                        </a:rPr>
                        <a:t>Planning</a:t>
                      </a:r>
                    </a:p>
                  </a:txBody>
                  <a:tcPr>
                    <a:solidFill>
                      <a:srgbClr val="FFFFFF"/>
                    </a:solidFill>
                  </a:tcPr>
                </a:tc>
                <a:tc>
                  <a:txBody>
                    <a:bodyPr/>
                    <a:lstStyle/>
                    <a:p>
                      <a:pPr algn="ctr"/>
                      <a:r>
                        <a:rPr sz="1200">
                          <a:solidFill>
                            <a:srgbClr val="333333"/>
                          </a:solidFill>
                          <a:latin typeface="Calibri"/>
                        </a:rPr>
                        <a:t>Weeks 1–2</a:t>
                      </a:r>
                    </a:p>
                  </a:txBody>
                  <a:tcPr>
                    <a:solidFill>
                      <a:srgbClr val="FFFFFF"/>
                    </a:solidFill>
                  </a:tcPr>
                </a:tc>
                <a:tc>
                  <a:txBody>
                    <a:bodyPr/>
                    <a:lstStyle/>
                    <a:p>
                      <a:pPr algn="ctr"/>
                      <a:r>
                        <a:rPr sz="1200">
                          <a:solidFill>
                            <a:srgbClr val="333333"/>
                          </a:solidFill>
                          <a:latin typeface="Calibri"/>
                        </a:rPr>
                        <a:t>Requirements, Gantt chart</a:t>
                      </a:r>
                    </a:p>
                  </a:txBody>
                  <a:tcPr>
                    <a:solidFill>
                      <a:srgbClr val="FFFFFF"/>
                    </a:solidFill>
                  </a:tcPr>
                </a:tc>
                <a:extLst>
                  <a:ext uri="{0D108BD9-81ED-4DB2-BD59-A6C34878D82A}">
                    <a16:rowId xmlns:a16="http://schemas.microsoft.com/office/drawing/2014/main" val="10001"/>
                  </a:ext>
                </a:extLst>
              </a:tr>
              <a:tr h="384048">
                <a:tc>
                  <a:txBody>
                    <a:bodyPr/>
                    <a:lstStyle/>
                    <a:p>
                      <a:pPr algn="ctr"/>
                      <a:r>
                        <a:rPr sz="1200">
                          <a:solidFill>
                            <a:srgbClr val="333333"/>
                          </a:solidFill>
                          <a:latin typeface="Calibri"/>
                        </a:rPr>
                        <a:t>Design</a:t>
                      </a:r>
                    </a:p>
                  </a:txBody>
                  <a:tcPr>
                    <a:solidFill>
                      <a:srgbClr val="F0F0F0"/>
                    </a:solidFill>
                  </a:tcPr>
                </a:tc>
                <a:tc>
                  <a:txBody>
                    <a:bodyPr/>
                    <a:lstStyle/>
                    <a:p>
                      <a:pPr algn="ctr"/>
                      <a:r>
                        <a:rPr sz="1200">
                          <a:solidFill>
                            <a:srgbClr val="333333"/>
                          </a:solidFill>
                          <a:latin typeface="Calibri"/>
                        </a:rPr>
                        <a:t>Weeks 3–4</a:t>
                      </a:r>
                    </a:p>
                  </a:txBody>
                  <a:tcPr>
                    <a:solidFill>
                      <a:srgbClr val="F0F0F0"/>
                    </a:solidFill>
                  </a:tcPr>
                </a:tc>
                <a:tc>
                  <a:txBody>
                    <a:bodyPr/>
                    <a:lstStyle/>
                    <a:p>
                      <a:pPr algn="ctr"/>
                      <a:r>
                        <a:rPr sz="1200">
                          <a:solidFill>
                            <a:srgbClr val="333333"/>
                          </a:solidFill>
                          <a:latin typeface="Calibri"/>
                        </a:rPr>
                        <a:t>Architecture, UML models, DB schema</a:t>
                      </a:r>
                    </a:p>
                  </a:txBody>
                  <a:tcPr>
                    <a:solidFill>
                      <a:srgbClr val="F0F0F0"/>
                    </a:solidFill>
                  </a:tcPr>
                </a:tc>
                <a:extLst>
                  <a:ext uri="{0D108BD9-81ED-4DB2-BD59-A6C34878D82A}">
                    <a16:rowId xmlns:a16="http://schemas.microsoft.com/office/drawing/2014/main" val="10002"/>
                  </a:ext>
                </a:extLst>
              </a:tr>
              <a:tr h="384048">
                <a:tc>
                  <a:txBody>
                    <a:bodyPr/>
                    <a:lstStyle/>
                    <a:p>
                      <a:pPr algn="ctr"/>
                      <a:r>
                        <a:rPr sz="1200">
                          <a:solidFill>
                            <a:srgbClr val="333333"/>
                          </a:solidFill>
                          <a:latin typeface="Calibri"/>
                        </a:rPr>
                        <a:t>Sprint 1</a:t>
                      </a:r>
                    </a:p>
                  </a:txBody>
                  <a:tcPr>
                    <a:solidFill>
                      <a:srgbClr val="FFFFFF"/>
                    </a:solidFill>
                  </a:tcPr>
                </a:tc>
                <a:tc>
                  <a:txBody>
                    <a:bodyPr/>
                    <a:lstStyle/>
                    <a:p>
                      <a:pPr algn="ctr"/>
                      <a:r>
                        <a:rPr sz="1200">
                          <a:solidFill>
                            <a:srgbClr val="333333"/>
                          </a:solidFill>
                          <a:latin typeface="Calibri"/>
                        </a:rPr>
                        <a:t>Weeks 5–6</a:t>
                      </a:r>
                    </a:p>
                  </a:txBody>
                  <a:tcPr>
                    <a:solidFill>
                      <a:srgbClr val="FFFFFF"/>
                    </a:solidFill>
                  </a:tcPr>
                </a:tc>
                <a:tc>
                  <a:txBody>
                    <a:bodyPr/>
                    <a:lstStyle/>
                    <a:p>
                      <a:pPr algn="ctr"/>
                      <a:r>
                        <a:rPr sz="1200">
                          <a:solidFill>
                            <a:srgbClr val="333333"/>
                          </a:solidFill>
                          <a:latin typeface="Calibri"/>
                        </a:rPr>
                        <a:t>Simulator v1.0, Backend API v1.0</a:t>
                      </a:r>
                    </a:p>
                  </a:txBody>
                  <a:tcPr>
                    <a:solidFill>
                      <a:srgbClr val="FFFFFF"/>
                    </a:solidFill>
                  </a:tcPr>
                </a:tc>
                <a:extLst>
                  <a:ext uri="{0D108BD9-81ED-4DB2-BD59-A6C34878D82A}">
                    <a16:rowId xmlns:a16="http://schemas.microsoft.com/office/drawing/2014/main" val="10003"/>
                  </a:ext>
                </a:extLst>
              </a:tr>
              <a:tr h="384048">
                <a:tc>
                  <a:txBody>
                    <a:bodyPr/>
                    <a:lstStyle/>
                    <a:p>
                      <a:pPr algn="ctr"/>
                      <a:r>
                        <a:rPr sz="1200">
                          <a:solidFill>
                            <a:srgbClr val="333333"/>
                          </a:solidFill>
                          <a:latin typeface="Calibri"/>
                        </a:rPr>
                        <a:t>Sprint 2</a:t>
                      </a:r>
                    </a:p>
                  </a:txBody>
                  <a:tcPr>
                    <a:solidFill>
                      <a:srgbClr val="F0F0F0"/>
                    </a:solidFill>
                  </a:tcPr>
                </a:tc>
                <a:tc>
                  <a:txBody>
                    <a:bodyPr/>
                    <a:lstStyle/>
                    <a:p>
                      <a:pPr algn="ctr"/>
                      <a:r>
                        <a:rPr sz="1200">
                          <a:solidFill>
                            <a:srgbClr val="333333"/>
                          </a:solidFill>
                          <a:latin typeface="Calibri"/>
                        </a:rPr>
                        <a:t>Weeks 7–8</a:t>
                      </a:r>
                    </a:p>
                  </a:txBody>
                  <a:tcPr>
                    <a:solidFill>
                      <a:srgbClr val="F0F0F0"/>
                    </a:solidFill>
                  </a:tcPr>
                </a:tc>
                <a:tc>
                  <a:txBody>
                    <a:bodyPr/>
                    <a:lstStyle/>
                    <a:p>
                      <a:pPr algn="ctr"/>
                      <a:r>
                        <a:rPr sz="1200">
                          <a:solidFill>
                            <a:srgbClr val="333333"/>
                          </a:solidFill>
                          <a:latin typeface="Calibri"/>
                        </a:rPr>
                        <a:t>Dashboard v1.0, Alert engine v1.0</a:t>
                      </a:r>
                    </a:p>
                  </a:txBody>
                  <a:tcPr>
                    <a:solidFill>
                      <a:srgbClr val="F0F0F0"/>
                    </a:solidFill>
                  </a:tcPr>
                </a:tc>
                <a:extLst>
                  <a:ext uri="{0D108BD9-81ED-4DB2-BD59-A6C34878D82A}">
                    <a16:rowId xmlns:a16="http://schemas.microsoft.com/office/drawing/2014/main" val="10004"/>
                  </a:ext>
                </a:extLst>
              </a:tr>
              <a:tr h="384048">
                <a:tc>
                  <a:txBody>
                    <a:bodyPr/>
                    <a:lstStyle/>
                    <a:p>
                      <a:pPr algn="ctr"/>
                      <a:r>
                        <a:rPr sz="1200">
                          <a:solidFill>
                            <a:srgbClr val="333333"/>
                          </a:solidFill>
                          <a:latin typeface="Calibri"/>
                        </a:rPr>
                        <a:t>Testing</a:t>
                      </a:r>
                    </a:p>
                  </a:txBody>
                  <a:tcPr>
                    <a:solidFill>
                      <a:srgbClr val="FFFFFF"/>
                    </a:solidFill>
                  </a:tcPr>
                </a:tc>
                <a:tc>
                  <a:txBody>
                    <a:bodyPr/>
                    <a:lstStyle/>
                    <a:p>
                      <a:pPr algn="ctr"/>
                      <a:r>
                        <a:rPr sz="1200">
                          <a:solidFill>
                            <a:srgbClr val="333333"/>
                          </a:solidFill>
                          <a:latin typeface="Calibri"/>
                        </a:rPr>
                        <a:t>Weeks 9–10</a:t>
                      </a:r>
                    </a:p>
                  </a:txBody>
                  <a:tcPr>
                    <a:solidFill>
                      <a:srgbClr val="FFFFFF"/>
                    </a:solidFill>
                  </a:tcPr>
                </a:tc>
                <a:tc>
                  <a:txBody>
                    <a:bodyPr/>
                    <a:lstStyle/>
                    <a:p>
                      <a:pPr algn="ctr"/>
                      <a:r>
                        <a:rPr sz="1200">
                          <a:solidFill>
                            <a:srgbClr val="333333"/>
                          </a:solidFill>
                          <a:latin typeface="Calibri"/>
                        </a:rPr>
                        <a:t>Test reports, bug fixes</a:t>
                      </a:r>
                    </a:p>
                  </a:txBody>
                  <a:tcPr>
                    <a:solidFill>
                      <a:srgbClr val="FFFFFF"/>
                    </a:solidFill>
                  </a:tcPr>
                </a:tc>
                <a:extLst>
                  <a:ext uri="{0D108BD9-81ED-4DB2-BD59-A6C34878D82A}">
                    <a16:rowId xmlns:a16="http://schemas.microsoft.com/office/drawing/2014/main" val="10005"/>
                  </a:ext>
                </a:extLst>
              </a:tr>
              <a:tr h="384048">
                <a:tc>
                  <a:txBody>
                    <a:bodyPr/>
                    <a:lstStyle/>
                    <a:p>
                      <a:pPr algn="ctr"/>
                      <a:r>
                        <a:rPr sz="1200">
                          <a:solidFill>
                            <a:srgbClr val="333333"/>
                          </a:solidFill>
                          <a:latin typeface="Calibri"/>
                        </a:rPr>
                        <a:t>Documentation</a:t>
                      </a:r>
                    </a:p>
                  </a:txBody>
                  <a:tcPr>
                    <a:solidFill>
                      <a:srgbClr val="F0F0F0"/>
                    </a:solidFill>
                  </a:tcPr>
                </a:tc>
                <a:tc>
                  <a:txBody>
                    <a:bodyPr/>
                    <a:lstStyle/>
                    <a:p>
                      <a:pPr algn="ctr"/>
                      <a:r>
                        <a:rPr sz="1200">
                          <a:solidFill>
                            <a:srgbClr val="333333"/>
                          </a:solidFill>
                          <a:latin typeface="Calibri"/>
                        </a:rPr>
                        <a:t>Weeks 11–12</a:t>
                      </a:r>
                    </a:p>
                  </a:txBody>
                  <a:tcPr>
                    <a:solidFill>
                      <a:srgbClr val="F0F0F0"/>
                    </a:solidFill>
                  </a:tcPr>
                </a:tc>
                <a:tc>
                  <a:txBody>
                    <a:bodyPr/>
                    <a:lstStyle/>
                    <a:p>
                      <a:pPr algn="ctr"/>
                      <a:r>
                        <a:rPr sz="1200">
                          <a:solidFill>
                            <a:srgbClr val="333333"/>
                          </a:solidFill>
                          <a:latin typeface="Calibri"/>
                        </a:rPr>
                        <a:t>Final report</a:t>
                      </a:r>
                    </a:p>
                  </a:txBody>
                  <a:tcPr>
                    <a:solidFill>
                      <a:srgbClr val="F0F0F0"/>
                    </a:solidFill>
                  </a:tcPr>
                </a:tc>
                <a:extLst>
                  <a:ext uri="{0D108BD9-81ED-4DB2-BD59-A6C34878D82A}">
                    <a16:rowId xmlns:a16="http://schemas.microsoft.com/office/drawing/2014/main" val="10006"/>
                  </a:ext>
                </a:extLst>
              </a:tr>
            </a:tbl>
          </a:graphicData>
        </a:graphic>
      </p:graphicFrame>
      <p:sp>
        <p:nvSpPr>
          <p:cNvPr id="8" name="Rectangle 7"/>
          <p:cNvSpPr/>
          <p:nvPr/>
        </p:nvSpPr>
        <p:spPr>
          <a:xfrm>
            <a:off x="457200" y="6537960"/>
            <a:ext cx="11277295"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0" y="6446520"/>
            <a:ext cx="640080" cy="320040"/>
          </a:xfrm>
          <a:prstGeom prst="rect">
            <a:avLst/>
          </a:prstGeom>
          <a:noFill/>
        </p:spPr>
        <p:txBody>
          <a:bodyPr wrap="none">
            <a:spAutoFit/>
          </a:bodyPr>
          <a:lstStyle/>
          <a:p>
            <a:pPr algn="r"/>
            <a:r>
              <a:rPr sz="1000">
                <a:solidFill>
                  <a:srgbClr val="333333"/>
                </a:solidFill>
                <a:latin typeface="Calibri"/>
              </a:rPr>
              <a:t>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SYSTEM ARCHITECTURE</a:t>
            </a:r>
          </a:p>
        </p:txBody>
      </p:sp>
      <p:sp>
        <p:nvSpPr>
          <p:cNvPr id="4" name="Rounded Rectangle 3"/>
          <p:cNvSpPr/>
          <p:nvPr/>
        </p:nvSpPr>
        <p:spPr>
          <a:xfrm>
            <a:off x="274320" y="1097280"/>
            <a:ext cx="3474720" cy="5029200"/>
          </a:xfrm>
          <a:prstGeom prst="roundRect">
            <a:avLst/>
          </a:prstGeom>
          <a:solidFill>
            <a:srgbClr val="E6F2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200" b="1">
                <a:solidFill>
                  <a:srgbClr val="003366"/>
                </a:solidFill>
                <a:latin typeface="Calibri"/>
              </a:rPr>
              <a:t>TIER 1</a:t>
            </a:r>
          </a:p>
          <a:p>
            <a:pPr algn="ctr">
              <a:spcAft>
                <a:spcPts val="400"/>
              </a:spcAft>
            </a:pPr>
            <a:r>
              <a:rPr sz="1400" b="1">
                <a:solidFill>
                  <a:srgbClr val="003366"/>
                </a:solidFill>
                <a:latin typeface="Calibri"/>
              </a:rPr>
              <a:t>Device Simulator</a:t>
            </a:r>
          </a:p>
          <a:p>
            <a:pPr>
              <a:spcAft>
                <a:spcPts val="200"/>
              </a:spcAft>
            </a:pPr>
            <a:r>
              <a:rPr sz="1100">
                <a:solidFill>
                  <a:srgbClr val="333333"/>
                </a:solidFill>
                <a:latin typeface="Calibri"/>
              </a:rPr>
              <a:t>• 20 virtual smart metres</a:t>
            </a:r>
          </a:p>
          <a:p>
            <a:pPr>
              <a:spcAft>
                <a:spcPts val="200"/>
              </a:spcAft>
            </a:pPr>
            <a:r>
              <a:rPr sz="1100">
                <a:solidFill>
                  <a:srgbClr val="333333"/>
                </a:solidFill>
                <a:latin typeface="Calibri"/>
              </a:rPr>
              <a:t>• Unique IDs &amp; location labels</a:t>
            </a:r>
          </a:p>
          <a:p>
            <a:pPr>
              <a:spcAft>
                <a:spcPts val="200"/>
              </a:spcAft>
            </a:pPr>
            <a:r>
              <a:rPr sz="1100">
                <a:solidFill>
                  <a:srgbClr val="333333"/>
                </a:solidFill>
                <a:latin typeface="Calibri"/>
              </a:rPr>
              <a:t>• Generates readings every 3s:</a:t>
            </a:r>
          </a:p>
          <a:p>
            <a:pPr>
              <a:spcAft>
                <a:spcPts val="200"/>
              </a:spcAft>
            </a:pPr>
            <a:r>
              <a:rPr sz="1100">
                <a:solidFill>
                  <a:srgbClr val="333333"/>
                </a:solidFill>
                <a:latin typeface="Calibri"/>
              </a:rPr>
              <a:t>  power, voltage, current,</a:t>
            </a:r>
          </a:p>
          <a:p>
            <a:pPr>
              <a:spcAft>
                <a:spcPts val="200"/>
              </a:spcAft>
            </a:pPr>
            <a:r>
              <a:rPr sz="1100">
                <a:solidFill>
                  <a:srgbClr val="333333"/>
                </a:solidFill>
                <a:latin typeface="Calibri"/>
              </a:rPr>
              <a:t>  energy, temperature, humidity</a:t>
            </a:r>
          </a:p>
          <a:p>
            <a:pPr>
              <a:spcAft>
                <a:spcPts val="200"/>
              </a:spcAft>
            </a:pPr>
            <a:r>
              <a:rPr sz="1100">
                <a:solidFill>
                  <a:srgbClr val="333333"/>
                </a:solidFill>
                <a:latin typeface="Calibri"/>
              </a:rPr>
              <a:t>• Sends data via HTTP POST</a:t>
            </a:r>
          </a:p>
        </p:txBody>
      </p:sp>
      <p:sp>
        <p:nvSpPr>
          <p:cNvPr id="5" name="Right Arrow 4"/>
          <p:cNvSpPr/>
          <p:nvPr/>
        </p:nvSpPr>
        <p:spPr>
          <a:xfrm>
            <a:off x="3840480" y="3291840"/>
            <a:ext cx="822960" cy="411480"/>
          </a:xfrm>
          <a:prstGeom prst="rightArrow">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754880" y="1097280"/>
            <a:ext cx="3474720" cy="5029200"/>
          </a:xfrm>
          <a:prstGeom prst="roundRect">
            <a:avLst/>
          </a:prstGeom>
          <a:solidFill>
            <a:srgbClr val="E6F2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200" b="1">
                <a:solidFill>
                  <a:srgbClr val="003366"/>
                </a:solidFill>
                <a:latin typeface="Calibri"/>
              </a:rPr>
              <a:t>TIER 2</a:t>
            </a:r>
          </a:p>
          <a:p>
            <a:pPr algn="ctr">
              <a:spcAft>
                <a:spcPts val="400"/>
              </a:spcAft>
            </a:pPr>
            <a:r>
              <a:rPr sz="1400" b="1">
                <a:solidFill>
                  <a:srgbClr val="003366"/>
                </a:solidFill>
                <a:latin typeface="Calibri"/>
              </a:rPr>
              <a:t>Backend Server</a:t>
            </a:r>
          </a:p>
          <a:p>
            <a:pPr>
              <a:spcAft>
                <a:spcPts val="200"/>
              </a:spcAft>
            </a:pPr>
            <a:r>
              <a:rPr sz="1100">
                <a:solidFill>
                  <a:srgbClr val="333333"/>
                </a:solidFill>
                <a:latin typeface="Calibri"/>
              </a:rPr>
              <a:t>• Flask + Flask-SocketIO</a:t>
            </a:r>
          </a:p>
          <a:p>
            <a:pPr>
              <a:spcAft>
                <a:spcPts val="200"/>
              </a:spcAft>
            </a:pPr>
            <a:r>
              <a:rPr sz="1100">
                <a:solidFill>
                  <a:srgbClr val="333333"/>
                </a:solidFill>
                <a:latin typeface="Calibri"/>
              </a:rPr>
              <a:t>• localhost:5000</a:t>
            </a:r>
          </a:p>
          <a:p>
            <a:pPr>
              <a:spcAft>
                <a:spcPts val="200"/>
              </a:spcAft>
            </a:pPr>
            <a:r>
              <a:rPr sz="1100">
                <a:solidFill>
                  <a:srgbClr val="333333"/>
                </a:solidFill>
                <a:latin typeface="Calibri"/>
              </a:rPr>
              <a:t>• REST API endpoints</a:t>
            </a:r>
          </a:p>
          <a:p>
            <a:pPr>
              <a:spcAft>
                <a:spcPts val="200"/>
              </a:spcAft>
            </a:pPr>
            <a:r>
              <a:rPr sz="1100">
                <a:solidFill>
                  <a:srgbClr val="333333"/>
                </a:solidFill>
                <a:latin typeface="Calibri"/>
              </a:rPr>
              <a:t>• SQLite database</a:t>
            </a:r>
          </a:p>
          <a:p>
            <a:pPr>
              <a:spcAft>
                <a:spcPts val="200"/>
              </a:spcAft>
            </a:pPr>
            <a:r>
              <a:rPr sz="1100">
                <a:solidFill>
                  <a:srgbClr val="333333"/>
                </a:solidFill>
                <a:latin typeface="Calibri"/>
              </a:rPr>
              <a:t>  (energy_monitor.db)</a:t>
            </a:r>
          </a:p>
          <a:p>
            <a:pPr>
              <a:spcAft>
                <a:spcPts val="200"/>
              </a:spcAft>
            </a:pPr>
            <a:r>
              <a:rPr sz="1100">
                <a:solidFill>
                  <a:srgbClr val="333333"/>
                </a:solidFill>
                <a:latin typeface="Calibri"/>
              </a:rPr>
              <a:t>• Alert engine:</a:t>
            </a:r>
          </a:p>
          <a:p>
            <a:pPr>
              <a:spcAft>
                <a:spcPts val="200"/>
              </a:spcAft>
            </a:pPr>
            <a:r>
              <a:rPr sz="1100">
                <a:solidFill>
                  <a:srgbClr val="333333"/>
                </a:solidFill>
                <a:latin typeface="Calibri"/>
              </a:rPr>
              <a:t>  7 threshold conditions</a:t>
            </a:r>
          </a:p>
        </p:txBody>
      </p:sp>
      <p:sp>
        <p:nvSpPr>
          <p:cNvPr id="7" name="Right Arrow 6"/>
          <p:cNvSpPr/>
          <p:nvPr/>
        </p:nvSpPr>
        <p:spPr>
          <a:xfrm>
            <a:off x="8321040" y="3291840"/>
            <a:ext cx="822960" cy="411480"/>
          </a:xfrm>
          <a:prstGeom prst="rightArrow">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235440" y="1097280"/>
            <a:ext cx="2743200" cy="5029200"/>
          </a:xfrm>
          <a:prstGeom prst="roundRect">
            <a:avLst/>
          </a:prstGeom>
          <a:solidFill>
            <a:srgbClr val="E6F2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200" b="1">
                <a:solidFill>
                  <a:srgbClr val="003366"/>
                </a:solidFill>
                <a:latin typeface="Calibri"/>
              </a:rPr>
              <a:t>TIER 3</a:t>
            </a:r>
          </a:p>
          <a:p>
            <a:pPr algn="ctr">
              <a:spcAft>
                <a:spcPts val="400"/>
              </a:spcAft>
            </a:pPr>
            <a:r>
              <a:rPr sz="1400" b="1">
                <a:solidFill>
                  <a:srgbClr val="003366"/>
                </a:solidFill>
                <a:latin typeface="Calibri"/>
              </a:rPr>
              <a:t>Web Dashboard</a:t>
            </a:r>
          </a:p>
          <a:p>
            <a:pPr>
              <a:spcAft>
                <a:spcPts val="200"/>
              </a:spcAft>
            </a:pPr>
            <a:r>
              <a:rPr sz="1100">
                <a:solidFill>
                  <a:srgbClr val="333333"/>
                </a:solidFill>
                <a:latin typeface="Calibri"/>
              </a:rPr>
              <a:t>• HTML5, CSS3, JS</a:t>
            </a:r>
          </a:p>
          <a:p>
            <a:pPr>
              <a:spcAft>
                <a:spcPts val="200"/>
              </a:spcAft>
            </a:pPr>
            <a:r>
              <a:rPr sz="1100">
                <a:solidFill>
                  <a:srgbClr val="333333"/>
                </a:solidFill>
                <a:latin typeface="Calibri"/>
              </a:rPr>
              <a:t>• Chart.js</a:t>
            </a:r>
          </a:p>
          <a:p>
            <a:pPr>
              <a:spcAft>
                <a:spcPts val="200"/>
              </a:spcAft>
            </a:pPr>
            <a:r>
              <a:rPr sz="1100">
                <a:solidFill>
                  <a:srgbClr val="333333"/>
                </a:solidFill>
                <a:latin typeface="Calibri"/>
              </a:rPr>
              <a:t>• Real-time via WebSocket</a:t>
            </a:r>
          </a:p>
          <a:p>
            <a:pPr>
              <a:spcAft>
                <a:spcPts val="200"/>
              </a:spcAft>
            </a:pPr>
            <a:r>
              <a:rPr sz="1100">
                <a:solidFill>
                  <a:srgbClr val="333333"/>
                </a:solidFill>
                <a:latin typeface="Calibri"/>
              </a:rPr>
              <a:t>• Live charts</a:t>
            </a:r>
          </a:p>
          <a:p>
            <a:pPr>
              <a:spcAft>
                <a:spcPts val="200"/>
              </a:spcAft>
            </a:pPr>
            <a:r>
              <a:rPr sz="1100">
                <a:solidFill>
                  <a:srgbClr val="333333"/>
                </a:solidFill>
                <a:latin typeface="Calibri"/>
              </a:rPr>
              <a:t>• Device cards</a:t>
            </a:r>
          </a:p>
          <a:p>
            <a:pPr>
              <a:spcAft>
                <a:spcPts val="200"/>
              </a:spcAft>
            </a:pPr>
            <a:r>
              <a:rPr sz="1100">
                <a:solidFill>
                  <a:srgbClr val="333333"/>
                </a:solidFill>
                <a:latin typeface="Calibri"/>
              </a:rPr>
              <a:t>• Alert panel</a:t>
            </a:r>
          </a:p>
          <a:p>
            <a:pPr>
              <a:spcAft>
                <a:spcPts val="200"/>
              </a:spcAft>
            </a:pPr>
            <a:r>
              <a:rPr sz="1100">
                <a:solidFill>
                  <a:srgbClr val="333333"/>
                </a:solidFill>
                <a:latin typeface="Calibri"/>
              </a:rPr>
              <a:t>• Device map</a:t>
            </a:r>
          </a:p>
        </p:txBody>
      </p:sp>
      <p:sp>
        <p:nvSpPr>
          <p:cNvPr id="9" name="Rectangle 8"/>
          <p:cNvSpPr/>
          <p:nvPr/>
        </p:nvSpPr>
        <p:spPr>
          <a:xfrm>
            <a:off x="457200" y="6537960"/>
            <a:ext cx="11277295"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430000" y="6446520"/>
            <a:ext cx="640080" cy="320040"/>
          </a:xfrm>
          <a:prstGeom prst="rect">
            <a:avLst/>
          </a:prstGeom>
          <a:noFill/>
        </p:spPr>
        <p:txBody>
          <a:bodyPr wrap="none">
            <a:spAutoFit/>
          </a:bodyPr>
          <a:lstStyle/>
          <a:p>
            <a:pPr algn="r"/>
            <a:r>
              <a:rPr sz="1000">
                <a:solidFill>
                  <a:srgbClr val="333333"/>
                </a:solidFill>
                <a:latin typeface="Calibri"/>
              </a:rPr>
              <a:t>13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DATA FLOW</a:t>
            </a:r>
          </a:p>
        </p:txBody>
      </p:sp>
      <p:sp>
        <p:nvSpPr>
          <p:cNvPr id="4" name="TextBox 3"/>
          <p:cNvSpPr txBox="1"/>
          <p:nvPr/>
        </p:nvSpPr>
        <p:spPr>
          <a:xfrm>
            <a:off x="731520" y="1097280"/>
            <a:ext cx="10515600" cy="5029200"/>
          </a:xfrm>
          <a:prstGeom prst="rect">
            <a:avLst/>
          </a:prstGeom>
          <a:noFill/>
        </p:spPr>
        <p:txBody>
          <a:bodyPr wrap="square">
            <a:spAutoFit/>
          </a:bodyPr>
          <a:lstStyle/>
          <a:p>
            <a:pPr>
              <a:lnSpc>
                <a:spcPct val="130000"/>
              </a:lnSpc>
              <a:spcAft>
                <a:spcPts val="1400"/>
              </a:spcAft>
            </a:pPr>
            <a:r>
              <a:rPr sz="1600">
                <a:solidFill>
                  <a:srgbClr val="333333"/>
                </a:solidFill>
                <a:latin typeface="Calibri"/>
              </a:rPr>
              <a:t>1.   Device Simulator generates a new reading for a virtual metre</a:t>
            </a:r>
          </a:p>
          <a:p>
            <a:pPr>
              <a:lnSpc>
                <a:spcPct val="130000"/>
              </a:lnSpc>
              <a:spcAft>
                <a:spcPts val="1400"/>
              </a:spcAft>
            </a:pPr>
            <a:r>
              <a:rPr sz="1600">
                <a:solidFill>
                  <a:srgbClr val="333333"/>
                </a:solidFill>
                <a:latin typeface="Calibri"/>
              </a:rPr>
              <a:t>2.   Simulator sends HTTP POST to /api/reading with JSON payload</a:t>
            </a:r>
          </a:p>
          <a:p>
            <a:pPr>
              <a:lnSpc>
                <a:spcPct val="130000"/>
              </a:lnSpc>
              <a:spcAft>
                <a:spcPts val="1400"/>
              </a:spcAft>
            </a:pPr>
            <a:r>
              <a:rPr sz="1600">
                <a:solidFill>
                  <a:srgbClr val="333333"/>
                </a:solidFill>
                <a:latin typeface="Calibri"/>
              </a:rPr>
              <a:t>3.   Flask backend validates and stores the reading in SQLite</a:t>
            </a:r>
          </a:p>
          <a:p>
            <a:pPr>
              <a:lnSpc>
                <a:spcPct val="130000"/>
              </a:lnSpc>
              <a:spcAft>
                <a:spcPts val="1400"/>
              </a:spcAft>
            </a:pPr>
            <a:r>
              <a:rPr sz="1600">
                <a:solidFill>
                  <a:srgbClr val="333333"/>
                </a:solidFill>
                <a:latin typeface="Calibri"/>
              </a:rPr>
              <a:t>4.   Alert engine checks if any parameter exceeds thresholds</a:t>
            </a:r>
          </a:p>
          <a:p>
            <a:pPr>
              <a:lnSpc>
                <a:spcPct val="130000"/>
              </a:lnSpc>
              <a:spcAft>
                <a:spcPts val="1400"/>
              </a:spcAft>
            </a:pPr>
            <a:r>
              <a:rPr sz="1600">
                <a:solidFill>
                  <a:srgbClr val="333333"/>
                </a:solidFill>
                <a:latin typeface="Calibri"/>
              </a:rPr>
              <a:t>5.   If threshold exceeded, an alert record is created</a:t>
            </a:r>
          </a:p>
          <a:p>
            <a:pPr>
              <a:lnSpc>
                <a:spcPct val="130000"/>
              </a:lnSpc>
              <a:spcAft>
                <a:spcPts val="1400"/>
              </a:spcAft>
            </a:pPr>
            <a:r>
              <a:rPr sz="1600">
                <a:solidFill>
                  <a:srgbClr val="333333"/>
                </a:solidFill>
                <a:latin typeface="Calibri"/>
              </a:rPr>
              <a:t>6.   Backend broadcasts new reading (and alert) via WebSocket to all connected dashboard clients</a:t>
            </a:r>
          </a:p>
          <a:p>
            <a:pPr>
              <a:lnSpc>
                <a:spcPct val="130000"/>
              </a:lnSpc>
              <a:spcAft>
                <a:spcPts val="1400"/>
              </a:spcAft>
            </a:pPr>
            <a:r>
              <a:rPr sz="1600">
                <a:solidFill>
                  <a:srgbClr val="333333"/>
                </a:solidFill>
                <a:latin typeface="Calibri"/>
              </a:rPr>
              <a:t>7.   Dashboard JavaScript updates charts, device cards, and alert panel in real time</a:t>
            </a:r>
          </a:p>
          <a:p>
            <a:pPr>
              <a:lnSpc>
                <a:spcPct val="130000"/>
              </a:lnSpc>
              <a:spcAft>
                <a:spcPts val="1400"/>
              </a:spcAft>
            </a:pPr>
            <a:r>
              <a:rPr sz="1600">
                <a:solidFill>
                  <a:srgbClr val="333333"/>
                </a:solidFill>
                <a:latin typeface="Calibri"/>
              </a:rPr>
              <a:t>8.   User views updated data and may acknowledge alerts</a:t>
            </a:r>
          </a:p>
        </p:txBody>
      </p:sp>
      <p:sp>
        <p:nvSpPr>
          <p:cNvPr id="5" name="Rectangle 4"/>
          <p:cNvSpPr/>
          <p:nvPr/>
        </p:nvSpPr>
        <p:spPr>
          <a:xfrm>
            <a:off x="457200" y="6537960"/>
            <a:ext cx="11277295"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0" y="6446520"/>
            <a:ext cx="640080" cy="320040"/>
          </a:xfrm>
          <a:prstGeom prst="rect">
            <a:avLst/>
          </a:prstGeom>
          <a:noFill/>
        </p:spPr>
        <p:txBody>
          <a:bodyPr wrap="none">
            <a:spAutoFit/>
          </a:bodyPr>
          <a:lstStyle/>
          <a:p>
            <a:pPr algn="r"/>
            <a:r>
              <a:rPr sz="1000">
                <a:solidFill>
                  <a:srgbClr val="333333"/>
                </a:solidFill>
                <a:latin typeface="Calibri"/>
              </a:rPr>
              <a:t>14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IMPLEMENTATION HIGHLIGHTS</a:t>
            </a:r>
          </a:p>
        </p:txBody>
      </p:sp>
      <p:sp>
        <p:nvSpPr>
          <p:cNvPr id="4" name="TextBox 3"/>
          <p:cNvSpPr txBox="1"/>
          <p:nvPr/>
        </p:nvSpPr>
        <p:spPr>
          <a:xfrm>
            <a:off x="731520" y="1051560"/>
            <a:ext cx="10515600" cy="365760"/>
          </a:xfrm>
          <a:prstGeom prst="rect">
            <a:avLst/>
          </a:prstGeom>
          <a:noFill/>
        </p:spPr>
        <p:txBody>
          <a:bodyPr wrap="square">
            <a:spAutoFit/>
          </a:bodyPr>
          <a:lstStyle/>
          <a:p>
            <a:r>
              <a:rPr sz="1800" b="1">
                <a:solidFill>
                  <a:srgbClr val="003366"/>
                </a:solidFill>
                <a:latin typeface="Calibri"/>
              </a:rPr>
              <a:t>Device Simulator</a:t>
            </a:r>
          </a:p>
        </p:txBody>
      </p:sp>
      <p:sp>
        <p:nvSpPr>
          <p:cNvPr id="5" name="TextBox 4"/>
          <p:cNvSpPr txBox="1"/>
          <p:nvPr/>
        </p:nvSpPr>
        <p:spPr>
          <a:xfrm>
            <a:off x="914400" y="1417319"/>
            <a:ext cx="10058400" cy="457200"/>
          </a:xfrm>
          <a:prstGeom prst="rect">
            <a:avLst/>
          </a:prstGeom>
          <a:noFill/>
        </p:spPr>
        <p:txBody>
          <a:bodyPr wrap="square">
            <a:spAutoFit/>
          </a:bodyPr>
          <a:lstStyle/>
          <a:p>
            <a:r>
              <a:rPr sz="1400">
                <a:solidFill>
                  <a:srgbClr val="333333"/>
                </a:solidFill>
                <a:latin typeface="Calibri"/>
              </a:rPr>
              <a:t>•  20 metres, 6 parameters, 3-second intervals, diurnal patterns, occasional anomalies</a:t>
            </a:r>
          </a:p>
        </p:txBody>
      </p:sp>
      <p:sp>
        <p:nvSpPr>
          <p:cNvPr id="6" name="TextBox 5"/>
          <p:cNvSpPr txBox="1"/>
          <p:nvPr/>
        </p:nvSpPr>
        <p:spPr>
          <a:xfrm>
            <a:off x="731520" y="1920240"/>
            <a:ext cx="10515600" cy="365760"/>
          </a:xfrm>
          <a:prstGeom prst="rect">
            <a:avLst/>
          </a:prstGeom>
          <a:noFill/>
        </p:spPr>
        <p:txBody>
          <a:bodyPr wrap="square">
            <a:spAutoFit/>
          </a:bodyPr>
          <a:lstStyle/>
          <a:p>
            <a:r>
              <a:rPr sz="1800" b="1">
                <a:solidFill>
                  <a:srgbClr val="003366"/>
                </a:solidFill>
                <a:latin typeface="Calibri"/>
              </a:rPr>
              <a:t>Backend API</a:t>
            </a:r>
          </a:p>
        </p:txBody>
      </p:sp>
      <p:sp>
        <p:nvSpPr>
          <p:cNvPr id="7" name="TextBox 6"/>
          <p:cNvSpPr txBox="1"/>
          <p:nvPr/>
        </p:nvSpPr>
        <p:spPr>
          <a:xfrm>
            <a:off x="914400" y="2286000"/>
            <a:ext cx="10058400" cy="457200"/>
          </a:xfrm>
          <a:prstGeom prst="rect">
            <a:avLst/>
          </a:prstGeom>
          <a:noFill/>
        </p:spPr>
        <p:txBody>
          <a:bodyPr wrap="square">
            <a:spAutoFit/>
          </a:bodyPr>
          <a:lstStyle/>
          <a:p>
            <a:r>
              <a:rPr sz="1400">
                <a:solidFill>
                  <a:srgbClr val="333333"/>
                </a:solidFill>
                <a:latin typeface="Calibri"/>
              </a:rPr>
              <a:t>•  Flask REST (11 endpoints), Flask-SocketIO, SQLite WAL mode, bcrypt authentication, input validation</a:t>
            </a:r>
          </a:p>
        </p:txBody>
      </p:sp>
      <p:sp>
        <p:nvSpPr>
          <p:cNvPr id="8" name="TextBox 7"/>
          <p:cNvSpPr txBox="1"/>
          <p:nvPr/>
        </p:nvSpPr>
        <p:spPr>
          <a:xfrm>
            <a:off x="731520" y="2788920"/>
            <a:ext cx="10515600" cy="365760"/>
          </a:xfrm>
          <a:prstGeom prst="rect">
            <a:avLst/>
          </a:prstGeom>
          <a:noFill/>
        </p:spPr>
        <p:txBody>
          <a:bodyPr wrap="square">
            <a:spAutoFit/>
          </a:bodyPr>
          <a:lstStyle/>
          <a:p>
            <a:r>
              <a:rPr sz="1800" b="1">
                <a:solidFill>
                  <a:srgbClr val="003366"/>
                </a:solidFill>
                <a:latin typeface="Calibri"/>
              </a:rPr>
              <a:t>Alert Engine</a:t>
            </a:r>
          </a:p>
        </p:txBody>
      </p:sp>
      <p:sp>
        <p:nvSpPr>
          <p:cNvPr id="9" name="TextBox 8"/>
          <p:cNvSpPr txBox="1"/>
          <p:nvPr/>
        </p:nvSpPr>
        <p:spPr>
          <a:xfrm>
            <a:off x="914400" y="3154680"/>
            <a:ext cx="10058400" cy="457200"/>
          </a:xfrm>
          <a:prstGeom prst="rect">
            <a:avLst/>
          </a:prstGeom>
          <a:noFill/>
        </p:spPr>
        <p:txBody>
          <a:bodyPr wrap="square">
            <a:spAutoFit/>
          </a:bodyPr>
          <a:lstStyle/>
          <a:p>
            <a:r>
              <a:rPr sz="1400">
                <a:solidFill>
                  <a:srgbClr val="333333"/>
                </a:solidFill>
                <a:latin typeface="Calibri"/>
              </a:rPr>
              <a:t>•  7 threshold conditions with critical/warning severity levels, offline detection (30s timeout), WebSocket push, acknowledge functionality</a:t>
            </a:r>
          </a:p>
        </p:txBody>
      </p:sp>
      <p:sp>
        <p:nvSpPr>
          <p:cNvPr id="10" name="TextBox 9"/>
          <p:cNvSpPr txBox="1"/>
          <p:nvPr/>
        </p:nvSpPr>
        <p:spPr>
          <a:xfrm>
            <a:off x="731520" y="3657600"/>
            <a:ext cx="10515600" cy="365760"/>
          </a:xfrm>
          <a:prstGeom prst="rect">
            <a:avLst/>
          </a:prstGeom>
          <a:noFill/>
        </p:spPr>
        <p:txBody>
          <a:bodyPr wrap="square">
            <a:spAutoFit/>
          </a:bodyPr>
          <a:lstStyle/>
          <a:p>
            <a:r>
              <a:rPr sz="1800" b="1">
                <a:solidFill>
                  <a:srgbClr val="003366"/>
                </a:solidFill>
                <a:latin typeface="Calibri"/>
              </a:rPr>
              <a:t>Web Dashboard</a:t>
            </a:r>
          </a:p>
        </p:txBody>
      </p:sp>
      <p:sp>
        <p:nvSpPr>
          <p:cNvPr id="11" name="TextBox 10"/>
          <p:cNvSpPr txBox="1"/>
          <p:nvPr/>
        </p:nvSpPr>
        <p:spPr>
          <a:xfrm>
            <a:off x="914400" y="4023360"/>
            <a:ext cx="10058400" cy="457200"/>
          </a:xfrm>
          <a:prstGeom prst="rect">
            <a:avLst/>
          </a:prstGeom>
          <a:noFill/>
        </p:spPr>
        <p:txBody>
          <a:bodyPr wrap="square">
            <a:spAutoFit/>
          </a:bodyPr>
          <a:lstStyle/>
          <a:p>
            <a:r>
              <a:rPr sz="1400">
                <a:solidFill>
                  <a:srgbClr val="333333"/>
                </a:solidFill>
                <a:latin typeface="Calibri"/>
              </a:rPr>
              <a:t>•  3-page interface (Dashboard, Alerts, Device Map), Chart.js real-time charts, Socket.IO, dark/light theme</a:t>
            </a:r>
          </a:p>
        </p:txBody>
      </p:sp>
      <p:sp>
        <p:nvSpPr>
          <p:cNvPr id="12" name="Rectangle 11"/>
          <p:cNvSpPr/>
          <p:nvPr/>
        </p:nvSpPr>
        <p:spPr>
          <a:xfrm>
            <a:off x="457200" y="6537960"/>
            <a:ext cx="11277295"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0" y="6446520"/>
            <a:ext cx="640080" cy="320040"/>
          </a:xfrm>
          <a:prstGeom prst="rect">
            <a:avLst/>
          </a:prstGeom>
          <a:noFill/>
        </p:spPr>
        <p:txBody>
          <a:bodyPr wrap="none">
            <a:spAutoFit/>
          </a:bodyPr>
          <a:lstStyle/>
          <a:p>
            <a:pPr algn="r"/>
            <a:r>
              <a:rPr sz="1000">
                <a:solidFill>
                  <a:srgbClr val="333333"/>
                </a:solidFill>
                <a:latin typeface="Calibri"/>
              </a:rPr>
              <a:t>15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Bar"/>
          <p:cNvSpPr/>
          <p:nvPr/>
        </p:nvSpPr>
        <p:spPr>
          <a:xfrm>
            <a:off x="0" y="0"/>
            <a:ext cx="12191695" cy="7315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 Text"/>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DASHBOARD OVERVIEW</a:t>
            </a:r>
          </a:p>
        </p:txBody>
      </p:sp>
      <p:pic>
        <p:nvPicPr>
          <p:cNvPr id="4" name="Dashboard Overview Screenshot" descr="screenshot_dashboard_overview.png"/>
          <p:cNvPicPr>
            <a:picLocks noChangeAspect="1"/>
          </p:cNvPicPr>
          <p:nvPr/>
        </p:nvPicPr>
        <p:blipFill>
          <a:blip r:embed="rId2"/>
          <a:stretch>
            <a:fillRect/>
          </a:stretch>
        </p:blipFill>
        <p:spPr>
          <a:xfrm>
            <a:off x="457200" y="1097280"/>
            <a:ext cx="5029200" cy="2743200"/>
          </a:xfrm>
          <a:prstGeom prst="rect">
            <a:avLst/>
          </a:prstGeom>
        </p:spPr>
      </p:pic>
      <p:sp>
        <p:nvSpPr>
          <p:cNvPr id="5" name="TextBox 4"/>
          <p:cNvSpPr txBox="1"/>
          <p:nvPr/>
        </p:nvSpPr>
        <p:spPr>
          <a:xfrm>
            <a:off x="457200" y="3886200"/>
            <a:ext cx="5029200" cy="320040"/>
          </a:xfrm>
          <a:prstGeom prst="rect">
            <a:avLst/>
          </a:prstGeom>
          <a:noFill/>
        </p:spPr>
        <p:txBody>
          <a:bodyPr wrap="square">
            <a:spAutoFit/>
          </a:bodyPr>
          <a:lstStyle/>
          <a:p>
            <a:pPr algn="ctr"/>
            <a:r>
              <a:rPr sz="1400" i="1">
                <a:solidFill>
                  <a:srgbClr val="333333"/>
                </a:solidFill>
                <a:latin typeface="Calibri"/>
              </a:rPr>
              <a:t>Real-Time Energy Monitoring Charts</a:t>
            </a:r>
          </a:p>
        </p:txBody>
      </p:sp>
      <p:pic>
        <p:nvPicPr>
          <p:cNvPr id="6" name="Device Cards Screenshot" descr="screenshot_dashboard_devices.png"/>
          <p:cNvPicPr>
            <a:picLocks noChangeAspect="1"/>
          </p:cNvPicPr>
          <p:nvPr/>
        </p:nvPicPr>
        <p:blipFill>
          <a:blip r:embed="rId3"/>
          <a:stretch>
            <a:fillRect/>
          </a:stretch>
        </p:blipFill>
        <p:spPr>
          <a:xfrm>
            <a:off x="6705295" y="1097280"/>
            <a:ext cx="5029200" cy="2743200"/>
          </a:xfrm>
          <a:prstGeom prst="rect">
            <a:avLst/>
          </a:prstGeom>
        </p:spPr>
      </p:pic>
      <p:sp>
        <p:nvSpPr>
          <p:cNvPr id="7" name="TextBox 6"/>
          <p:cNvSpPr txBox="1"/>
          <p:nvPr/>
        </p:nvSpPr>
        <p:spPr>
          <a:xfrm>
            <a:off x="6705295" y="3886200"/>
            <a:ext cx="5029200" cy="320040"/>
          </a:xfrm>
          <a:prstGeom prst="rect">
            <a:avLst/>
          </a:prstGeom>
          <a:noFill/>
        </p:spPr>
        <p:txBody>
          <a:bodyPr wrap="square">
            <a:spAutoFit/>
          </a:bodyPr>
          <a:lstStyle/>
          <a:p>
            <a:pPr algn="ctr"/>
            <a:r>
              <a:rPr sz="1400" i="1">
                <a:solidFill>
                  <a:srgbClr val="333333"/>
                </a:solidFill>
                <a:latin typeface="Calibri"/>
              </a:rPr>
              <a:t>20 Simulated Smart Meter Devices</a:t>
            </a:r>
          </a:p>
        </p:txBody>
      </p:sp>
      <p:sp>
        <p:nvSpPr>
          <p:cNvPr id="8" name="Tech Stack"/>
          <p:cNvSpPr txBox="1"/>
          <p:nvPr/>
        </p:nvSpPr>
        <p:spPr>
          <a:xfrm>
            <a:off x="914400" y="6309360"/>
            <a:ext cx="10362895" cy="320040"/>
          </a:xfrm>
          <a:prstGeom prst="rect">
            <a:avLst/>
          </a:prstGeom>
          <a:noFill/>
        </p:spPr>
        <p:txBody>
          <a:bodyPr wrap="square">
            <a:spAutoFit/>
          </a:bodyPr>
          <a:lstStyle/>
          <a:p>
            <a:pPr algn="ctr"/>
            <a:r>
              <a:rPr sz="1400" i="1">
                <a:solidFill>
                  <a:srgbClr val="333333"/>
                </a:solidFill>
                <a:latin typeface="Calibri"/>
              </a:rPr>
              <a:t>Tech Stack: Python 3.14 | Flask 3.x | Flask-SocketIO | SQLite | Chart.js 4.x | HTML5/CSS3/JavaScript</a:t>
            </a:r>
          </a:p>
        </p:txBody>
      </p:sp>
      <p:sp>
        <p:nvSpPr>
          <p:cNvPr id="9" name="Bottom Line"/>
          <p:cNvSpPr/>
          <p:nvPr/>
        </p:nvSpPr>
        <p:spPr>
          <a:xfrm>
            <a:off x="457200" y="6537960"/>
            <a:ext cx="11274552"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Page Number"/>
          <p:cNvSpPr txBox="1"/>
          <p:nvPr/>
        </p:nvSpPr>
        <p:spPr>
          <a:xfrm>
            <a:off x="11430000" y="6446520"/>
            <a:ext cx="640080" cy="320040"/>
          </a:xfrm>
          <a:prstGeom prst="rect">
            <a:avLst/>
          </a:prstGeom>
          <a:noFill/>
        </p:spPr>
        <p:txBody>
          <a:bodyPr wrap="none">
            <a:spAutoFit/>
          </a:bodyPr>
          <a:lstStyle/>
          <a:p>
            <a:pPr algn="r"/>
            <a:r>
              <a:rPr sz="1100">
                <a:solidFill>
                  <a:srgbClr val="333333"/>
                </a:solidFill>
                <a:latin typeface="Calibri"/>
              </a:rPr>
              <a:t>16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Bar"/>
          <p:cNvSpPr/>
          <p:nvPr/>
        </p:nvSpPr>
        <p:spPr>
          <a:xfrm>
            <a:off x="0" y="0"/>
            <a:ext cx="12191695" cy="7315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 Text"/>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ALERTS AND REST API</a:t>
            </a:r>
          </a:p>
        </p:txBody>
      </p:sp>
      <p:pic>
        <p:nvPicPr>
          <p:cNvPr id="4" name="Alerts Panel Screenshot" descr="screenshot_dashboard_alerts.png"/>
          <p:cNvPicPr>
            <a:picLocks noChangeAspect="1"/>
          </p:cNvPicPr>
          <p:nvPr/>
        </p:nvPicPr>
        <p:blipFill>
          <a:blip r:embed="rId2"/>
          <a:stretch>
            <a:fillRect/>
          </a:stretch>
        </p:blipFill>
        <p:spPr>
          <a:xfrm>
            <a:off x="457200" y="1371600"/>
            <a:ext cx="7132320" cy="4114800"/>
          </a:xfrm>
          <a:prstGeom prst="rect">
            <a:avLst/>
          </a:prstGeom>
        </p:spPr>
      </p:pic>
      <p:sp>
        <p:nvSpPr>
          <p:cNvPr id="5" name="TextBox 4"/>
          <p:cNvSpPr txBox="1"/>
          <p:nvPr/>
        </p:nvSpPr>
        <p:spPr>
          <a:xfrm>
            <a:off x="457200" y="5577840"/>
            <a:ext cx="7132320" cy="320040"/>
          </a:xfrm>
          <a:prstGeom prst="rect">
            <a:avLst/>
          </a:prstGeom>
          <a:noFill/>
        </p:spPr>
        <p:txBody>
          <a:bodyPr wrap="square">
            <a:spAutoFit/>
          </a:bodyPr>
          <a:lstStyle/>
          <a:p>
            <a:pPr algn="ctr"/>
            <a:r>
              <a:rPr sz="1400" i="1">
                <a:solidFill>
                  <a:srgbClr val="333333"/>
                </a:solidFill>
                <a:latin typeface="Calibri"/>
              </a:rPr>
              <a:t>Alert Panel with Severity Levels</a:t>
            </a:r>
          </a:p>
        </p:txBody>
      </p:sp>
      <p:sp>
        <p:nvSpPr>
          <p:cNvPr id="6" name="TextBox 5"/>
          <p:cNvSpPr txBox="1"/>
          <p:nvPr/>
        </p:nvSpPr>
        <p:spPr>
          <a:xfrm>
            <a:off x="7772400" y="1097280"/>
            <a:ext cx="4114800" cy="365760"/>
          </a:xfrm>
          <a:prstGeom prst="rect">
            <a:avLst/>
          </a:prstGeom>
          <a:noFill/>
        </p:spPr>
        <p:txBody>
          <a:bodyPr wrap="none">
            <a:spAutoFit/>
          </a:bodyPr>
          <a:lstStyle/>
          <a:p>
            <a:pPr algn="l"/>
            <a:r>
              <a:rPr sz="1600" b="1">
                <a:solidFill>
                  <a:srgbClr val="003366"/>
                </a:solidFill>
                <a:latin typeface="Calibri"/>
              </a:rPr>
              <a:t>REST API Endpoints</a:t>
            </a:r>
          </a:p>
        </p:txBody>
      </p:sp>
      <p:graphicFrame>
        <p:nvGraphicFramePr>
          <p:cNvPr id="7" name="Table 6"/>
          <p:cNvGraphicFramePr>
            <a:graphicFrameLocks noGrp="1"/>
          </p:cNvGraphicFramePr>
          <p:nvPr/>
        </p:nvGraphicFramePr>
        <p:xfrm>
          <a:off x="7772400" y="1554480"/>
          <a:ext cx="4114800" cy="438912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731520">
                <a:tc>
                  <a:txBody>
                    <a:bodyPr/>
                    <a:lstStyle/>
                    <a:p>
                      <a:pPr algn="l"/>
                      <a:r>
                        <a:rPr sz="1200" b="1">
                          <a:solidFill>
                            <a:srgbClr val="FFFFFF"/>
                          </a:solidFill>
                          <a:latin typeface="Calibri"/>
                        </a:rPr>
                        <a:t>Endpoint</a:t>
                      </a:r>
                    </a:p>
                  </a:txBody>
                  <a:tcPr marL="45720" marR="45720" marT="18288" marB="18288" anchor="ctr">
                    <a:solidFill>
                      <a:srgbClr val="003366"/>
                    </a:solidFill>
                  </a:tcPr>
                </a:tc>
                <a:tc>
                  <a:txBody>
                    <a:bodyPr/>
                    <a:lstStyle/>
                    <a:p>
                      <a:pPr algn="l"/>
                      <a:r>
                        <a:rPr sz="1200" b="1">
                          <a:solidFill>
                            <a:srgbClr val="FFFFFF"/>
                          </a:solidFill>
                          <a:latin typeface="Calibri"/>
                        </a:rPr>
                        <a:t>Method</a:t>
                      </a:r>
                    </a:p>
                  </a:txBody>
                  <a:tcPr marL="45720" marR="45720" marT="18288" marB="18288" anchor="ctr">
                    <a:solidFill>
                      <a:srgbClr val="003366"/>
                    </a:solidFill>
                  </a:tcPr>
                </a:tc>
                <a:tc>
                  <a:txBody>
                    <a:bodyPr/>
                    <a:lstStyle/>
                    <a:p>
                      <a:pPr algn="l"/>
                      <a:r>
                        <a:rPr sz="1200" b="1">
                          <a:solidFill>
                            <a:srgbClr val="FFFFFF"/>
                          </a:solidFill>
                          <a:latin typeface="Calibri"/>
                        </a:rPr>
                        <a:t>Description</a:t>
                      </a:r>
                    </a:p>
                  </a:txBody>
                  <a:tcPr marL="45720" marR="45720" marT="18288" marB="18288" anchor="ctr">
                    <a:solidFill>
                      <a:srgbClr val="003366"/>
                    </a:solidFill>
                  </a:tcPr>
                </a:tc>
                <a:extLst>
                  <a:ext uri="{0D108BD9-81ED-4DB2-BD59-A6C34878D82A}">
                    <a16:rowId xmlns:a16="http://schemas.microsoft.com/office/drawing/2014/main" val="10000"/>
                  </a:ext>
                </a:extLst>
              </a:tr>
              <a:tr h="731520">
                <a:tc>
                  <a:txBody>
                    <a:bodyPr/>
                    <a:lstStyle/>
                    <a:p>
                      <a:pPr algn="l"/>
                      <a:r>
                        <a:rPr sz="1200" b="0">
                          <a:solidFill>
                            <a:srgbClr val="000000"/>
                          </a:solidFill>
                          <a:latin typeface="Calibri"/>
                        </a:rPr>
                        <a:t>/api/reading</a:t>
                      </a:r>
                    </a:p>
                  </a:txBody>
                  <a:tcPr marL="45720" marR="45720" marT="18288" marB="18288" anchor="ctr">
                    <a:solidFill>
                      <a:srgbClr val="FFFFFF"/>
                    </a:solidFill>
                  </a:tcPr>
                </a:tc>
                <a:tc>
                  <a:txBody>
                    <a:bodyPr/>
                    <a:lstStyle/>
                    <a:p>
                      <a:pPr algn="l"/>
                      <a:r>
                        <a:rPr sz="1200" b="0">
                          <a:solidFill>
                            <a:srgbClr val="000000"/>
                          </a:solidFill>
                          <a:latin typeface="Calibri"/>
                        </a:rPr>
                        <a:t>POST</a:t>
                      </a:r>
                    </a:p>
                  </a:txBody>
                  <a:tcPr marL="45720" marR="45720" marT="18288" marB="18288" anchor="ctr">
                    <a:solidFill>
                      <a:srgbClr val="FFFFFF"/>
                    </a:solidFill>
                  </a:tcPr>
                </a:tc>
                <a:tc>
                  <a:txBody>
                    <a:bodyPr/>
                    <a:lstStyle/>
                    <a:p>
                      <a:pPr algn="l"/>
                      <a:r>
                        <a:rPr sz="1200" b="0">
                          <a:solidFill>
                            <a:srgbClr val="000000"/>
                          </a:solidFill>
                          <a:latin typeface="Calibri"/>
                        </a:rPr>
                        <a:t>Receive sensor data</a:t>
                      </a:r>
                    </a:p>
                  </a:txBody>
                  <a:tcPr marL="45720" marR="45720" marT="18288" marB="18288" anchor="ctr">
                    <a:solidFill>
                      <a:srgbClr val="FFFFFF"/>
                    </a:solidFill>
                  </a:tcPr>
                </a:tc>
                <a:extLst>
                  <a:ext uri="{0D108BD9-81ED-4DB2-BD59-A6C34878D82A}">
                    <a16:rowId xmlns:a16="http://schemas.microsoft.com/office/drawing/2014/main" val="10001"/>
                  </a:ext>
                </a:extLst>
              </a:tr>
              <a:tr h="731520">
                <a:tc>
                  <a:txBody>
                    <a:bodyPr/>
                    <a:lstStyle/>
                    <a:p>
                      <a:pPr algn="l"/>
                      <a:r>
                        <a:rPr sz="1200" b="0">
                          <a:solidFill>
                            <a:srgbClr val="000000"/>
                          </a:solidFill>
                          <a:latin typeface="Calibri"/>
                        </a:rPr>
                        <a:t>/api/devices</a:t>
                      </a:r>
                    </a:p>
                  </a:txBody>
                  <a:tcPr marL="45720" marR="45720" marT="18288" marB="18288" anchor="ctr">
                    <a:solidFill>
                      <a:srgbClr val="F0F0F0"/>
                    </a:solidFill>
                  </a:tcPr>
                </a:tc>
                <a:tc>
                  <a:txBody>
                    <a:bodyPr/>
                    <a:lstStyle/>
                    <a:p>
                      <a:pPr algn="l"/>
                      <a:r>
                        <a:rPr sz="1200" b="0">
                          <a:solidFill>
                            <a:srgbClr val="000000"/>
                          </a:solidFill>
                          <a:latin typeface="Calibri"/>
                        </a:rPr>
                        <a:t>GET</a:t>
                      </a:r>
                    </a:p>
                  </a:txBody>
                  <a:tcPr marL="45720" marR="45720" marT="18288" marB="18288" anchor="ctr">
                    <a:solidFill>
                      <a:srgbClr val="F0F0F0"/>
                    </a:solidFill>
                  </a:tcPr>
                </a:tc>
                <a:tc>
                  <a:txBody>
                    <a:bodyPr/>
                    <a:lstStyle/>
                    <a:p>
                      <a:pPr algn="l"/>
                      <a:r>
                        <a:rPr sz="1200" b="0">
                          <a:solidFill>
                            <a:srgbClr val="000000"/>
                          </a:solidFill>
                          <a:latin typeface="Calibri"/>
                        </a:rPr>
                        <a:t>List all devices</a:t>
                      </a:r>
                    </a:p>
                  </a:txBody>
                  <a:tcPr marL="45720" marR="45720" marT="18288" marB="18288" anchor="ctr">
                    <a:solidFill>
                      <a:srgbClr val="F0F0F0"/>
                    </a:solidFill>
                  </a:tcPr>
                </a:tc>
                <a:extLst>
                  <a:ext uri="{0D108BD9-81ED-4DB2-BD59-A6C34878D82A}">
                    <a16:rowId xmlns:a16="http://schemas.microsoft.com/office/drawing/2014/main" val="10002"/>
                  </a:ext>
                </a:extLst>
              </a:tr>
              <a:tr h="731520">
                <a:tc>
                  <a:txBody>
                    <a:bodyPr/>
                    <a:lstStyle/>
                    <a:p>
                      <a:pPr algn="l"/>
                      <a:r>
                        <a:rPr sz="1200" b="0">
                          <a:solidFill>
                            <a:srgbClr val="000000"/>
                          </a:solidFill>
                          <a:latin typeface="Calibri"/>
                        </a:rPr>
                        <a:t>/api/readings/&lt;id&gt;</a:t>
                      </a:r>
                    </a:p>
                  </a:txBody>
                  <a:tcPr marL="45720" marR="45720" marT="18288" marB="18288" anchor="ctr">
                    <a:solidFill>
                      <a:srgbClr val="FFFFFF"/>
                    </a:solidFill>
                  </a:tcPr>
                </a:tc>
                <a:tc>
                  <a:txBody>
                    <a:bodyPr/>
                    <a:lstStyle/>
                    <a:p>
                      <a:pPr algn="l"/>
                      <a:r>
                        <a:rPr sz="1200" b="0">
                          <a:solidFill>
                            <a:srgbClr val="000000"/>
                          </a:solidFill>
                          <a:latin typeface="Calibri"/>
                        </a:rPr>
                        <a:t>GET</a:t>
                      </a:r>
                    </a:p>
                  </a:txBody>
                  <a:tcPr marL="45720" marR="45720" marT="18288" marB="18288" anchor="ctr">
                    <a:solidFill>
                      <a:srgbClr val="FFFFFF"/>
                    </a:solidFill>
                  </a:tcPr>
                </a:tc>
                <a:tc>
                  <a:txBody>
                    <a:bodyPr/>
                    <a:lstStyle/>
                    <a:p>
                      <a:pPr algn="l"/>
                      <a:r>
                        <a:rPr sz="1200" b="0">
                          <a:solidFill>
                            <a:srgbClr val="000000"/>
                          </a:solidFill>
                          <a:latin typeface="Calibri"/>
                        </a:rPr>
                        <a:t>Device reading history</a:t>
                      </a:r>
                    </a:p>
                  </a:txBody>
                  <a:tcPr marL="45720" marR="45720" marT="18288" marB="18288" anchor="ctr">
                    <a:solidFill>
                      <a:srgbClr val="FFFFFF"/>
                    </a:solidFill>
                  </a:tcPr>
                </a:tc>
                <a:extLst>
                  <a:ext uri="{0D108BD9-81ED-4DB2-BD59-A6C34878D82A}">
                    <a16:rowId xmlns:a16="http://schemas.microsoft.com/office/drawing/2014/main" val="10003"/>
                  </a:ext>
                </a:extLst>
              </a:tr>
              <a:tr h="731520">
                <a:tc>
                  <a:txBody>
                    <a:bodyPr/>
                    <a:lstStyle/>
                    <a:p>
                      <a:pPr algn="l"/>
                      <a:r>
                        <a:rPr sz="1200" b="0">
                          <a:solidFill>
                            <a:srgbClr val="000000"/>
                          </a:solidFill>
                          <a:latin typeface="Calibri"/>
                        </a:rPr>
                        <a:t>/api/alerts</a:t>
                      </a:r>
                    </a:p>
                  </a:txBody>
                  <a:tcPr marL="45720" marR="45720" marT="18288" marB="18288" anchor="ctr">
                    <a:solidFill>
                      <a:srgbClr val="F0F0F0"/>
                    </a:solidFill>
                  </a:tcPr>
                </a:tc>
                <a:tc>
                  <a:txBody>
                    <a:bodyPr/>
                    <a:lstStyle/>
                    <a:p>
                      <a:pPr algn="l"/>
                      <a:r>
                        <a:rPr sz="1200" b="0">
                          <a:solidFill>
                            <a:srgbClr val="000000"/>
                          </a:solidFill>
                          <a:latin typeface="Calibri"/>
                        </a:rPr>
                        <a:t>GET</a:t>
                      </a:r>
                    </a:p>
                  </a:txBody>
                  <a:tcPr marL="45720" marR="45720" marT="18288" marB="18288" anchor="ctr">
                    <a:solidFill>
                      <a:srgbClr val="F0F0F0"/>
                    </a:solidFill>
                  </a:tcPr>
                </a:tc>
                <a:tc>
                  <a:txBody>
                    <a:bodyPr/>
                    <a:lstStyle/>
                    <a:p>
                      <a:pPr algn="l"/>
                      <a:r>
                        <a:rPr sz="1200" b="0">
                          <a:solidFill>
                            <a:srgbClr val="000000"/>
                          </a:solidFill>
                          <a:latin typeface="Calibri"/>
                        </a:rPr>
                        <a:t>List active alerts</a:t>
                      </a:r>
                    </a:p>
                  </a:txBody>
                  <a:tcPr marL="45720" marR="45720" marT="18288" marB="18288" anchor="ctr">
                    <a:solidFill>
                      <a:srgbClr val="F0F0F0"/>
                    </a:solidFill>
                  </a:tcPr>
                </a:tc>
                <a:extLst>
                  <a:ext uri="{0D108BD9-81ED-4DB2-BD59-A6C34878D82A}">
                    <a16:rowId xmlns:a16="http://schemas.microsoft.com/office/drawing/2014/main" val="10004"/>
                  </a:ext>
                </a:extLst>
              </a:tr>
              <a:tr h="731520">
                <a:tc>
                  <a:txBody>
                    <a:bodyPr/>
                    <a:lstStyle/>
                    <a:p>
                      <a:pPr algn="l"/>
                      <a:r>
                        <a:rPr sz="1200" b="0">
                          <a:solidFill>
                            <a:srgbClr val="000000"/>
                          </a:solidFill>
                          <a:latin typeface="Calibri"/>
                        </a:rPr>
                        <a:t>/api/alerts/&lt;id&gt;/acknowledge</a:t>
                      </a:r>
                    </a:p>
                  </a:txBody>
                  <a:tcPr marL="45720" marR="45720" marT="18288" marB="18288" anchor="ctr">
                    <a:solidFill>
                      <a:srgbClr val="FFFFFF"/>
                    </a:solidFill>
                  </a:tcPr>
                </a:tc>
                <a:tc>
                  <a:txBody>
                    <a:bodyPr/>
                    <a:lstStyle/>
                    <a:p>
                      <a:pPr algn="l"/>
                      <a:r>
                        <a:rPr sz="1200" b="0">
                          <a:solidFill>
                            <a:srgbClr val="000000"/>
                          </a:solidFill>
                          <a:latin typeface="Calibri"/>
                        </a:rPr>
                        <a:t>POST</a:t>
                      </a:r>
                    </a:p>
                  </a:txBody>
                  <a:tcPr marL="45720" marR="45720" marT="18288" marB="18288" anchor="ctr">
                    <a:solidFill>
                      <a:srgbClr val="FFFFFF"/>
                    </a:solidFill>
                  </a:tcPr>
                </a:tc>
                <a:tc>
                  <a:txBody>
                    <a:bodyPr/>
                    <a:lstStyle/>
                    <a:p>
                      <a:pPr algn="l"/>
                      <a:r>
                        <a:rPr sz="1200" b="0">
                          <a:solidFill>
                            <a:srgbClr val="000000"/>
                          </a:solidFill>
                          <a:latin typeface="Calibri"/>
                        </a:rPr>
                        <a:t>Acknowledge alert</a:t>
                      </a:r>
                    </a:p>
                  </a:txBody>
                  <a:tcPr marL="45720" marR="45720"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8" name="Bottom Line"/>
          <p:cNvSpPr/>
          <p:nvPr/>
        </p:nvSpPr>
        <p:spPr>
          <a:xfrm>
            <a:off x="457200" y="6537960"/>
            <a:ext cx="11274552"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Page Number"/>
          <p:cNvSpPr txBox="1"/>
          <p:nvPr/>
        </p:nvSpPr>
        <p:spPr>
          <a:xfrm>
            <a:off x="11430000" y="6446520"/>
            <a:ext cx="640080" cy="320040"/>
          </a:xfrm>
          <a:prstGeom prst="rect">
            <a:avLst/>
          </a:prstGeom>
          <a:noFill/>
        </p:spPr>
        <p:txBody>
          <a:bodyPr wrap="none">
            <a:spAutoFit/>
          </a:bodyPr>
          <a:lstStyle/>
          <a:p>
            <a:pPr algn="r"/>
            <a:r>
              <a:rPr sz="1100">
                <a:solidFill>
                  <a:srgbClr val="333333"/>
                </a:solidFill>
                <a:latin typeface="Calibri"/>
              </a:rPr>
              <a:t>17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Bar"/>
          <p:cNvSpPr/>
          <p:nvPr/>
        </p:nvSpPr>
        <p:spPr>
          <a:xfrm>
            <a:off x="0" y="0"/>
            <a:ext cx="12191695" cy="7315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 Text"/>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DATABASE DESIGN</a:t>
            </a:r>
          </a:p>
        </p:txBody>
      </p:sp>
      <p:pic>
        <p:nvPicPr>
          <p:cNvPr id="4" name="ERD Diagram" descr="erd_diagram.png"/>
          <p:cNvPicPr>
            <a:picLocks noChangeAspect="1"/>
          </p:cNvPicPr>
          <p:nvPr/>
        </p:nvPicPr>
        <p:blipFill>
          <a:blip r:embed="rId2"/>
          <a:stretch>
            <a:fillRect/>
          </a:stretch>
        </p:blipFill>
        <p:spPr>
          <a:xfrm>
            <a:off x="274320" y="1097280"/>
            <a:ext cx="6400800" cy="5029200"/>
          </a:xfrm>
          <a:prstGeom prst="rect">
            <a:avLst/>
          </a:prstGeom>
        </p:spPr>
      </p:pic>
      <p:sp>
        <p:nvSpPr>
          <p:cNvPr id="5" name="TextBox 4"/>
          <p:cNvSpPr txBox="1"/>
          <p:nvPr/>
        </p:nvSpPr>
        <p:spPr>
          <a:xfrm>
            <a:off x="274320" y="6172200"/>
            <a:ext cx="6400800" cy="320040"/>
          </a:xfrm>
          <a:prstGeom prst="rect">
            <a:avLst/>
          </a:prstGeom>
          <a:noFill/>
        </p:spPr>
        <p:txBody>
          <a:bodyPr wrap="square">
            <a:spAutoFit/>
          </a:bodyPr>
          <a:lstStyle/>
          <a:p>
            <a:pPr algn="ctr"/>
            <a:r>
              <a:rPr sz="1400" i="1">
                <a:solidFill>
                  <a:srgbClr val="333333"/>
                </a:solidFill>
                <a:latin typeface="Calibri"/>
              </a:rPr>
              <a:t>Entity-Relationship Diagram</a:t>
            </a:r>
          </a:p>
        </p:txBody>
      </p:sp>
      <p:sp>
        <p:nvSpPr>
          <p:cNvPr id="6" name="TextBox 5"/>
          <p:cNvSpPr txBox="1"/>
          <p:nvPr/>
        </p:nvSpPr>
        <p:spPr>
          <a:xfrm>
            <a:off x="6858000" y="1097280"/>
            <a:ext cx="5029200" cy="274320"/>
          </a:xfrm>
          <a:prstGeom prst="rect">
            <a:avLst/>
          </a:prstGeom>
          <a:noFill/>
        </p:spPr>
        <p:txBody>
          <a:bodyPr wrap="none">
            <a:spAutoFit/>
          </a:bodyPr>
          <a:lstStyle/>
          <a:p>
            <a:pPr algn="l"/>
            <a:r>
              <a:rPr sz="1300" b="1">
                <a:solidFill>
                  <a:srgbClr val="003366"/>
                </a:solidFill>
                <a:latin typeface="Calibri"/>
              </a:rPr>
              <a:t>devices</a:t>
            </a:r>
          </a:p>
        </p:txBody>
      </p:sp>
      <p:graphicFrame>
        <p:nvGraphicFramePr>
          <p:cNvPr id="7" name="Table 6"/>
          <p:cNvGraphicFramePr>
            <a:graphicFrameLocks noGrp="1"/>
          </p:cNvGraphicFramePr>
          <p:nvPr/>
        </p:nvGraphicFramePr>
        <p:xfrm>
          <a:off x="6858000" y="1371600"/>
          <a:ext cx="5029200" cy="13716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228600">
                <a:tc>
                  <a:txBody>
                    <a:bodyPr/>
                    <a:lstStyle/>
                    <a:p>
                      <a:pPr algn="l"/>
                      <a:r>
                        <a:rPr sz="1000" b="1" dirty="0">
                          <a:solidFill>
                            <a:srgbClr val="FFFFFF"/>
                          </a:solidFill>
                          <a:latin typeface="Calibri"/>
                        </a:rPr>
                        <a:t>Column</a:t>
                      </a:r>
                    </a:p>
                  </a:txBody>
                  <a:tcPr marL="45720" marR="45720" marT="18288" marB="18288" anchor="ctr">
                    <a:solidFill>
                      <a:srgbClr val="003366"/>
                    </a:solidFill>
                  </a:tcPr>
                </a:tc>
                <a:tc>
                  <a:txBody>
                    <a:bodyPr/>
                    <a:lstStyle/>
                    <a:p>
                      <a:pPr algn="l"/>
                      <a:r>
                        <a:rPr sz="1000" b="1">
                          <a:solidFill>
                            <a:srgbClr val="FFFFFF"/>
                          </a:solidFill>
                          <a:latin typeface="Calibri"/>
                        </a:rPr>
                        <a:t>Type</a:t>
                      </a:r>
                    </a:p>
                  </a:txBody>
                  <a:tcPr marL="45720" marR="45720" marT="18288" marB="18288" anchor="ctr">
                    <a:solidFill>
                      <a:srgbClr val="003366"/>
                    </a:solidFill>
                  </a:tcPr>
                </a:tc>
                <a:extLst>
                  <a:ext uri="{0D108BD9-81ED-4DB2-BD59-A6C34878D82A}">
                    <a16:rowId xmlns:a16="http://schemas.microsoft.com/office/drawing/2014/main" val="10000"/>
                  </a:ext>
                </a:extLst>
              </a:tr>
              <a:tr h="228600">
                <a:tc>
                  <a:txBody>
                    <a:bodyPr/>
                    <a:lstStyle/>
                    <a:p>
                      <a:pPr algn="l"/>
                      <a:r>
                        <a:rPr sz="1000" b="0">
                          <a:solidFill>
                            <a:srgbClr val="000000"/>
                          </a:solidFill>
                          <a:latin typeface="Calibri"/>
                        </a:rPr>
                        <a:t>id</a:t>
                      </a:r>
                    </a:p>
                  </a:txBody>
                  <a:tcPr marL="45720" marR="45720" marT="18288" marB="18288" anchor="ctr">
                    <a:solidFill>
                      <a:srgbClr val="FFFFFF"/>
                    </a:solidFill>
                  </a:tcPr>
                </a:tc>
                <a:tc>
                  <a:txBody>
                    <a:bodyPr/>
                    <a:lstStyle/>
                    <a:p>
                      <a:pPr algn="l"/>
                      <a:r>
                        <a:rPr sz="1000" b="0">
                          <a:solidFill>
                            <a:srgbClr val="000000"/>
                          </a:solidFill>
                          <a:latin typeface="Calibri"/>
                        </a:rPr>
                        <a:t>INTEGER PK</a:t>
                      </a:r>
                    </a:p>
                  </a:txBody>
                  <a:tcPr marL="45720" marR="45720" marT="18288" marB="18288" anchor="ctr">
                    <a:solidFill>
                      <a:srgbClr val="FFFFFF"/>
                    </a:solidFill>
                  </a:tcPr>
                </a:tc>
                <a:extLst>
                  <a:ext uri="{0D108BD9-81ED-4DB2-BD59-A6C34878D82A}">
                    <a16:rowId xmlns:a16="http://schemas.microsoft.com/office/drawing/2014/main" val="10001"/>
                  </a:ext>
                </a:extLst>
              </a:tr>
              <a:tr h="228600">
                <a:tc>
                  <a:txBody>
                    <a:bodyPr/>
                    <a:lstStyle/>
                    <a:p>
                      <a:pPr algn="l"/>
                      <a:r>
                        <a:rPr sz="1000" b="0">
                          <a:solidFill>
                            <a:srgbClr val="000000"/>
                          </a:solidFill>
                          <a:latin typeface="Calibri"/>
                        </a:rPr>
                        <a:t>name</a:t>
                      </a:r>
                    </a:p>
                  </a:txBody>
                  <a:tcPr marL="45720" marR="45720" marT="18288" marB="18288" anchor="ctr">
                    <a:solidFill>
                      <a:srgbClr val="F0F0F0"/>
                    </a:solidFill>
                  </a:tcPr>
                </a:tc>
                <a:tc>
                  <a:txBody>
                    <a:bodyPr/>
                    <a:lstStyle/>
                    <a:p>
                      <a:pPr algn="l"/>
                      <a:r>
                        <a:rPr sz="1000" b="0">
                          <a:solidFill>
                            <a:srgbClr val="000000"/>
                          </a:solidFill>
                          <a:latin typeface="Calibri"/>
                        </a:rPr>
                        <a:t>TEXT</a:t>
                      </a:r>
                    </a:p>
                  </a:txBody>
                  <a:tcPr marL="45720" marR="45720" marT="18288" marB="18288" anchor="ctr">
                    <a:solidFill>
                      <a:srgbClr val="F0F0F0"/>
                    </a:solidFill>
                  </a:tcPr>
                </a:tc>
                <a:extLst>
                  <a:ext uri="{0D108BD9-81ED-4DB2-BD59-A6C34878D82A}">
                    <a16:rowId xmlns:a16="http://schemas.microsoft.com/office/drawing/2014/main" val="10002"/>
                  </a:ext>
                </a:extLst>
              </a:tr>
              <a:tr h="228600">
                <a:tc>
                  <a:txBody>
                    <a:bodyPr/>
                    <a:lstStyle/>
                    <a:p>
                      <a:pPr algn="l"/>
                      <a:r>
                        <a:rPr sz="1000" b="0">
                          <a:solidFill>
                            <a:srgbClr val="000000"/>
                          </a:solidFill>
                          <a:latin typeface="Calibri"/>
                        </a:rPr>
                        <a:t>device_type</a:t>
                      </a:r>
                    </a:p>
                  </a:txBody>
                  <a:tcPr marL="45720" marR="45720" marT="18288" marB="18288" anchor="ctr">
                    <a:solidFill>
                      <a:srgbClr val="FFFFFF"/>
                    </a:solidFill>
                  </a:tcPr>
                </a:tc>
                <a:tc>
                  <a:txBody>
                    <a:bodyPr/>
                    <a:lstStyle/>
                    <a:p>
                      <a:pPr algn="l"/>
                      <a:r>
                        <a:rPr sz="1000" b="0">
                          <a:solidFill>
                            <a:srgbClr val="000000"/>
                          </a:solidFill>
                          <a:latin typeface="Calibri"/>
                        </a:rPr>
                        <a:t>TEXT</a:t>
                      </a:r>
                    </a:p>
                  </a:txBody>
                  <a:tcPr marL="45720" marR="45720" marT="18288" marB="18288" anchor="ctr">
                    <a:solidFill>
                      <a:srgbClr val="FFFFFF"/>
                    </a:solidFill>
                  </a:tcPr>
                </a:tc>
                <a:extLst>
                  <a:ext uri="{0D108BD9-81ED-4DB2-BD59-A6C34878D82A}">
                    <a16:rowId xmlns:a16="http://schemas.microsoft.com/office/drawing/2014/main" val="10003"/>
                  </a:ext>
                </a:extLst>
              </a:tr>
              <a:tr h="228600">
                <a:tc>
                  <a:txBody>
                    <a:bodyPr/>
                    <a:lstStyle/>
                    <a:p>
                      <a:pPr algn="l"/>
                      <a:r>
                        <a:rPr sz="1000" b="0">
                          <a:solidFill>
                            <a:srgbClr val="000000"/>
                          </a:solidFill>
                          <a:latin typeface="Calibri"/>
                        </a:rPr>
                        <a:t>location</a:t>
                      </a:r>
                    </a:p>
                  </a:txBody>
                  <a:tcPr marL="45720" marR="45720" marT="18288" marB="18288" anchor="ctr">
                    <a:solidFill>
                      <a:srgbClr val="F0F0F0"/>
                    </a:solidFill>
                  </a:tcPr>
                </a:tc>
                <a:tc>
                  <a:txBody>
                    <a:bodyPr/>
                    <a:lstStyle/>
                    <a:p>
                      <a:pPr algn="l"/>
                      <a:r>
                        <a:rPr sz="1000" b="0">
                          <a:solidFill>
                            <a:srgbClr val="000000"/>
                          </a:solidFill>
                          <a:latin typeface="Calibri"/>
                        </a:rPr>
                        <a:t>TEXT</a:t>
                      </a:r>
                    </a:p>
                  </a:txBody>
                  <a:tcPr marL="45720" marR="45720" marT="18288" marB="18288" anchor="ctr">
                    <a:solidFill>
                      <a:srgbClr val="F0F0F0"/>
                    </a:solidFill>
                  </a:tcPr>
                </a:tc>
                <a:extLst>
                  <a:ext uri="{0D108BD9-81ED-4DB2-BD59-A6C34878D82A}">
                    <a16:rowId xmlns:a16="http://schemas.microsoft.com/office/drawing/2014/main" val="10004"/>
                  </a:ext>
                </a:extLst>
              </a:tr>
              <a:tr h="228600">
                <a:tc>
                  <a:txBody>
                    <a:bodyPr/>
                    <a:lstStyle/>
                    <a:p>
                      <a:pPr algn="l"/>
                      <a:r>
                        <a:rPr sz="1000" b="0" dirty="0" err="1">
                          <a:solidFill>
                            <a:srgbClr val="000000"/>
                          </a:solidFill>
                          <a:latin typeface="Calibri"/>
                        </a:rPr>
                        <a:t>is_active</a:t>
                      </a:r>
                      <a:endParaRPr sz="1000" b="0" dirty="0">
                        <a:solidFill>
                          <a:srgbClr val="000000"/>
                        </a:solidFill>
                        <a:latin typeface="Calibri"/>
                      </a:endParaRPr>
                    </a:p>
                  </a:txBody>
                  <a:tcPr marL="45720" marR="45720" marT="18288" marB="18288" anchor="ctr">
                    <a:solidFill>
                      <a:srgbClr val="FFFFFF"/>
                    </a:solidFill>
                  </a:tcPr>
                </a:tc>
                <a:tc>
                  <a:txBody>
                    <a:bodyPr/>
                    <a:lstStyle/>
                    <a:p>
                      <a:pPr algn="l"/>
                      <a:r>
                        <a:rPr sz="1000" b="0" dirty="0">
                          <a:solidFill>
                            <a:srgbClr val="000000"/>
                          </a:solidFill>
                          <a:latin typeface="Calibri"/>
                        </a:rPr>
                        <a:t>BOOLEAN</a:t>
                      </a:r>
                    </a:p>
                  </a:txBody>
                  <a:tcPr marL="45720" marR="45720"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6858000" y="2880360"/>
            <a:ext cx="5029200" cy="274320"/>
          </a:xfrm>
          <a:prstGeom prst="rect">
            <a:avLst/>
          </a:prstGeom>
          <a:noFill/>
        </p:spPr>
        <p:txBody>
          <a:bodyPr wrap="none">
            <a:spAutoFit/>
          </a:bodyPr>
          <a:lstStyle/>
          <a:p>
            <a:pPr algn="l"/>
            <a:r>
              <a:rPr sz="1300" b="1">
                <a:solidFill>
                  <a:srgbClr val="003366"/>
                </a:solidFill>
                <a:latin typeface="Calibri"/>
              </a:rPr>
              <a:t>readings</a:t>
            </a:r>
          </a:p>
        </p:txBody>
      </p:sp>
      <p:graphicFrame>
        <p:nvGraphicFramePr>
          <p:cNvPr id="9" name="Table 8"/>
          <p:cNvGraphicFramePr>
            <a:graphicFrameLocks noGrp="1"/>
          </p:cNvGraphicFramePr>
          <p:nvPr/>
        </p:nvGraphicFramePr>
        <p:xfrm>
          <a:off x="6858000" y="3154680"/>
          <a:ext cx="5029200" cy="16002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228600">
                <a:tc>
                  <a:txBody>
                    <a:bodyPr/>
                    <a:lstStyle/>
                    <a:p>
                      <a:pPr algn="l"/>
                      <a:r>
                        <a:rPr sz="1000" b="1">
                          <a:solidFill>
                            <a:srgbClr val="FFFFFF"/>
                          </a:solidFill>
                          <a:latin typeface="Calibri"/>
                        </a:rPr>
                        <a:t>Column</a:t>
                      </a:r>
                    </a:p>
                  </a:txBody>
                  <a:tcPr marL="45720" marR="45720" marT="18288" marB="18288" anchor="ctr">
                    <a:solidFill>
                      <a:srgbClr val="003366"/>
                    </a:solidFill>
                  </a:tcPr>
                </a:tc>
                <a:tc>
                  <a:txBody>
                    <a:bodyPr/>
                    <a:lstStyle/>
                    <a:p>
                      <a:pPr algn="l"/>
                      <a:r>
                        <a:rPr sz="1000" b="1">
                          <a:solidFill>
                            <a:srgbClr val="FFFFFF"/>
                          </a:solidFill>
                          <a:latin typeface="Calibri"/>
                        </a:rPr>
                        <a:t>Type</a:t>
                      </a:r>
                    </a:p>
                  </a:txBody>
                  <a:tcPr marL="45720" marR="45720" marT="18288" marB="18288" anchor="ctr">
                    <a:solidFill>
                      <a:srgbClr val="003366"/>
                    </a:solidFill>
                  </a:tcPr>
                </a:tc>
                <a:extLst>
                  <a:ext uri="{0D108BD9-81ED-4DB2-BD59-A6C34878D82A}">
                    <a16:rowId xmlns:a16="http://schemas.microsoft.com/office/drawing/2014/main" val="10000"/>
                  </a:ext>
                </a:extLst>
              </a:tr>
              <a:tr h="228600">
                <a:tc>
                  <a:txBody>
                    <a:bodyPr/>
                    <a:lstStyle/>
                    <a:p>
                      <a:pPr algn="l"/>
                      <a:r>
                        <a:rPr sz="1000" b="0">
                          <a:solidFill>
                            <a:srgbClr val="000000"/>
                          </a:solidFill>
                          <a:latin typeface="Calibri"/>
                        </a:rPr>
                        <a:t>id</a:t>
                      </a:r>
                    </a:p>
                  </a:txBody>
                  <a:tcPr marL="45720" marR="45720" marT="18288" marB="18288" anchor="ctr">
                    <a:solidFill>
                      <a:srgbClr val="FFFFFF"/>
                    </a:solidFill>
                  </a:tcPr>
                </a:tc>
                <a:tc>
                  <a:txBody>
                    <a:bodyPr/>
                    <a:lstStyle/>
                    <a:p>
                      <a:pPr algn="l"/>
                      <a:r>
                        <a:rPr sz="1000" b="0">
                          <a:solidFill>
                            <a:srgbClr val="000000"/>
                          </a:solidFill>
                          <a:latin typeface="Calibri"/>
                        </a:rPr>
                        <a:t>INTEGER PK</a:t>
                      </a:r>
                    </a:p>
                  </a:txBody>
                  <a:tcPr marL="45720" marR="45720" marT="18288" marB="18288" anchor="ctr">
                    <a:solidFill>
                      <a:srgbClr val="FFFFFF"/>
                    </a:solidFill>
                  </a:tcPr>
                </a:tc>
                <a:extLst>
                  <a:ext uri="{0D108BD9-81ED-4DB2-BD59-A6C34878D82A}">
                    <a16:rowId xmlns:a16="http://schemas.microsoft.com/office/drawing/2014/main" val="10001"/>
                  </a:ext>
                </a:extLst>
              </a:tr>
              <a:tr h="228600">
                <a:tc>
                  <a:txBody>
                    <a:bodyPr/>
                    <a:lstStyle/>
                    <a:p>
                      <a:pPr algn="l"/>
                      <a:r>
                        <a:rPr sz="1000" b="0">
                          <a:solidFill>
                            <a:srgbClr val="000000"/>
                          </a:solidFill>
                          <a:latin typeface="Calibri"/>
                        </a:rPr>
                        <a:t>device_id</a:t>
                      </a:r>
                    </a:p>
                  </a:txBody>
                  <a:tcPr marL="45720" marR="45720" marT="18288" marB="18288" anchor="ctr">
                    <a:solidFill>
                      <a:srgbClr val="F0F0F0"/>
                    </a:solidFill>
                  </a:tcPr>
                </a:tc>
                <a:tc>
                  <a:txBody>
                    <a:bodyPr/>
                    <a:lstStyle/>
                    <a:p>
                      <a:pPr algn="l"/>
                      <a:r>
                        <a:rPr sz="1000" b="0">
                          <a:solidFill>
                            <a:srgbClr val="000000"/>
                          </a:solidFill>
                          <a:latin typeface="Calibri"/>
                        </a:rPr>
                        <a:t>INTEGER FK</a:t>
                      </a:r>
                    </a:p>
                  </a:txBody>
                  <a:tcPr marL="45720" marR="45720" marT="18288" marB="18288" anchor="ctr">
                    <a:solidFill>
                      <a:srgbClr val="F0F0F0"/>
                    </a:solidFill>
                  </a:tcPr>
                </a:tc>
                <a:extLst>
                  <a:ext uri="{0D108BD9-81ED-4DB2-BD59-A6C34878D82A}">
                    <a16:rowId xmlns:a16="http://schemas.microsoft.com/office/drawing/2014/main" val="10002"/>
                  </a:ext>
                </a:extLst>
              </a:tr>
              <a:tr h="228600">
                <a:tc>
                  <a:txBody>
                    <a:bodyPr/>
                    <a:lstStyle/>
                    <a:p>
                      <a:pPr algn="l"/>
                      <a:r>
                        <a:rPr sz="1000" b="0">
                          <a:solidFill>
                            <a:srgbClr val="000000"/>
                          </a:solidFill>
                          <a:latin typeface="Calibri"/>
                        </a:rPr>
                        <a:t>power</a:t>
                      </a:r>
                    </a:p>
                  </a:txBody>
                  <a:tcPr marL="45720" marR="45720" marT="18288" marB="18288" anchor="ctr">
                    <a:solidFill>
                      <a:srgbClr val="FFFFFF"/>
                    </a:solidFill>
                  </a:tcPr>
                </a:tc>
                <a:tc>
                  <a:txBody>
                    <a:bodyPr/>
                    <a:lstStyle/>
                    <a:p>
                      <a:pPr algn="l"/>
                      <a:r>
                        <a:rPr sz="1000" b="0">
                          <a:solidFill>
                            <a:srgbClr val="000000"/>
                          </a:solidFill>
                          <a:latin typeface="Calibri"/>
                        </a:rPr>
                        <a:t>FLOAT</a:t>
                      </a:r>
                    </a:p>
                  </a:txBody>
                  <a:tcPr marL="45720" marR="45720" marT="18288" marB="18288" anchor="ctr">
                    <a:solidFill>
                      <a:srgbClr val="FFFFFF"/>
                    </a:solidFill>
                  </a:tcPr>
                </a:tc>
                <a:extLst>
                  <a:ext uri="{0D108BD9-81ED-4DB2-BD59-A6C34878D82A}">
                    <a16:rowId xmlns:a16="http://schemas.microsoft.com/office/drawing/2014/main" val="10003"/>
                  </a:ext>
                </a:extLst>
              </a:tr>
              <a:tr h="228600">
                <a:tc>
                  <a:txBody>
                    <a:bodyPr/>
                    <a:lstStyle/>
                    <a:p>
                      <a:pPr algn="l"/>
                      <a:r>
                        <a:rPr sz="1000" b="0">
                          <a:solidFill>
                            <a:srgbClr val="000000"/>
                          </a:solidFill>
                          <a:latin typeface="Calibri"/>
                        </a:rPr>
                        <a:t>voltage</a:t>
                      </a:r>
                    </a:p>
                  </a:txBody>
                  <a:tcPr marL="45720" marR="45720" marT="18288" marB="18288" anchor="ctr">
                    <a:solidFill>
                      <a:srgbClr val="F0F0F0"/>
                    </a:solidFill>
                  </a:tcPr>
                </a:tc>
                <a:tc>
                  <a:txBody>
                    <a:bodyPr/>
                    <a:lstStyle/>
                    <a:p>
                      <a:pPr algn="l"/>
                      <a:r>
                        <a:rPr sz="1000" b="0">
                          <a:solidFill>
                            <a:srgbClr val="000000"/>
                          </a:solidFill>
                          <a:latin typeface="Calibri"/>
                        </a:rPr>
                        <a:t>FLOAT</a:t>
                      </a:r>
                    </a:p>
                  </a:txBody>
                  <a:tcPr marL="45720" marR="45720" marT="18288" marB="18288" anchor="ctr">
                    <a:solidFill>
                      <a:srgbClr val="F0F0F0"/>
                    </a:solidFill>
                  </a:tcPr>
                </a:tc>
                <a:extLst>
                  <a:ext uri="{0D108BD9-81ED-4DB2-BD59-A6C34878D82A}">
                    <a16:rowId xmlns:a16="http://schemas.microsoft.com/office/drawing/2014/main" val="10004"/>
                  </a:ext>
                </a:extLst>
              </a:tr>
              <a:tr h="228600">
                <a:tc>
                  <a:txBody>
                    <a:bodyPr/>
                    <a:lstStyle/>
                    <a:p>
                      <a:pPr algn="l"/>
                      <a:r>
                        <a:rPr sz="1000" b="0">
                          <a:solidFill>
                            <a:srgbClr val="000000"/>
                          </a:solidFill>
                          <a:latin typeface="Calibri"/>
                        </a:rPr>
                        <a:t>current</a:t>
                      </a:r>
                    </a:p>
                  </a:txBody>
                  <a:tcPr marL="45720" marR="45720" marT="18288" marB="18288" anchor="ctr">
                    <a:solidFill>
                      <a:srgbClr val="FFFFFF"/>
                    </a:solidFill>
                  </a:tcPr>
                </a:tc>
                <a:tc>
                  <a:txBody>
                    <a:bodyPr/>
                    <a:lstStyle/>
                    <a:p>
                      <a:pPr algn="l"/>
                      <a:r>
                        <a:rPr sz="1000" b="0">
                          <a:solidFill>
                            <a:srgbClr val="000000"/>
                          </a:solidFill>
                          <a:latin typeface="Calibri"/>
                        </a:rPr>
                        <a:t>FLOAT</a:t>
                      </a:r>
                    </a:p>
                  </a:txBody>
                  <a:tcPr marL="45720" marR="45720" marT="18288" marB="18288" anchor="ctr">
                    <a:solidFill>
                      <a:srgbClr val="FFFFFF"/>
                    </a:solidFill>
                  </a:tcPr>
                </a:tc>
                <a:extLst>
                  <a:ext uri="{0D108BD9-81ED-4DB2-BD59-A6C34878D82A}">
                    <a16:rowId xmlns:a16="http://schemas.microsoft.com/office/drawing/2014/main" val="10005"/>
                  </a:ext>
                </a:extLst>
              </a:tr>
              <a:tr h="228600">
                <a:tc>
                  <a:txBody>
                    <a:bodyPr/>
                    <a:lstStyle/>
                    <a:p>
                      <a:pPr algn="l"/>
                      <a:r>
                        <a:rPr sz="1000" b="0">
                          <a:solidFill>
                            <a:srgbClr val="000000"/>
                          </a:solidFill>
                          <a:latin typeface="Calibri"/>
                        </a:rPr>
                        <a:t>energy</a:t>
                      </a:r>
                    </a:p>
                  </a:txBody>
                  <a:tcPr marL="45720" marR="45720" marT="18288" marB="18288" anchor="ctr">
                    <a:solidFill>
                      <a:srgbClr val="F0F0F0"/>
                    </a:solidFill>
                  </a:tcPr>
                </a:tc>
                <a:tc>
                  <a:txBody>
                    <a:bodyPr/>
                    <a:lstStyle/>
                    <a:p>
                      <a:pPr algn="l"/>
                      <a:r>
                        <a:rPr sz="1000" b="0" dirty="0">
                          <a:solidFill>
                            <a:srgbClr val="000000"/>
                          </a:solidFill>
                          <a:latin typeface="Calibri"/>
                        </a:rPr>
                        <a:t>FLOAT</a:t>
                      </a:r>
                    </a:p>
                  </a:txBody>
                  <a:tcPr marL="45720" marR="45720" marT="18288" marB="18288" anchor="ctr">
                    <a:solidFill>
                      <a:srgbClr val="F0F0F0"/>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6858000" y="4892040"/>
            <a:ext cx="5029200" cy="274320"/>
          </a:xfrm>
          <a:prstGeom prst="rect">
            <a:avLst/>
          </a:prstGeom>
          <a:noFill/>
        </p:spPr>
        <p:txBody>
          <a:bodyPr wrap="none">
            <a:spAutoFit/>
          </a:bodyPr>
          <a:lstStyle/>
          <a:p>
            <a:pPr algn="l"/>
            <a:r>
              <a:rPr sz="1300" b="1">
                <a:solidFill>
                  <a:srgbClr val="003366"/>
                </a:solidFill>
                <a:latin typeface="Calibri"/>
              </a:rPr>
              <a:t>alerts</a:t>
            </a:r>
          </a:p>
        </p:txBody>
      </p:sp>
      <p:graphicFrame>
        <p:nvGraphicFramePr>
          <p:cNvPr id="11" name="Table 10"/>
          <p:cNvGraphicFramePr>
            <a:graphicFrameLocks noGrp="1"/>
          </p:cNvGraphicFramePr>
          <p:nvPr>
            <p:extLst>
              <p:ext uri="{D42A27DB-BD31-4B8C-83A1-F6EECF244321}">
                <p14:modId xmlns:p14="http://schemas.microsoft.com/office/powerpoint/2010/main" val="3647373214"/>
              </p:ext>
            </p:extLst>
          </p:nvPr>
        </p:nvGraphicFramePr>
        <p:xfrm>
          <a:off x="6918384" y="5166360"/>
          <a:ext cx="4968815" cy="1353310"/>
        </p:xfrm>
        <a:graphic>
          <a:graphicData uri="http://schemas.openxmlformats.org/drawingml/2006/table">
            <a:tbl>
              <a:tblPr firstRow="1" bandRow="1">
                <a:tableStyleId>{5C22544A-7EE6-4342-B048-85BDC9FD1C3A}</a:tableStyleId>
              </a:tblPr>
              <a:tblGrid>
                <a:gridCol w="2258552">
                  <a:extLst>
                    <a:ext uri="{9D8B030D-6E8A-4147-A177-3AD203B41FA5}">
                      <a16:colId xmlns:a16="http://schemas.microsoft.com/office/drawing/2014/main" val="20000"/>
                    </a:ext>
                  </a:extLst>
                </a:gridCol>
                <a:gridCol w="2710263">
                  <a:extLst>
                    <a:ext uri="{9D8B030D-6E8A-4147-A177-3AD203B41FA5}">
                      <a16:colId xmlns:a16="http://schemas.microsoft.com/office/drawing/2014/main" val="20001"/>
                    </a:ext>
                  </a:extLst>
                </a:gridCol>
              </a:tblGrid>
              <a:tr h="193330">
                <a:tc>
                  <a:txBody>
                    <a:bodyPr/>
                    <a:lstStyle/>
                    <a:p>
                      <a:pPr algn="l"/>
                      <a:r>
                        <a:rPr sz="1000" b="1">
                          <a:solidFill>
                            <a:srgbClr val="FFFFFF"/>
                          </a:solidFill>
                          <a:latin typeface="Calibri"/>
                        </a:rPr>
                        <a:t>Column</a:t>
                      </a:r>
                    </a:p>
                  </a:txBody>
                  <a:tcPr marL="45720" marR="45720" marT="18288" marB="18288" anchor="ctr">
                    <a:solidFill>
                      <a:srgbClr val="003366"/>
                    </a:solidFill>
                  </a:tcPr>
                </a:tc>
                <a:tc>
                  <a:txBody>
                    <a:bodyPr/>
                    <a:lstStyle/>
                    <a:p>
                      <a:pPr algn="l"/>
                      <a:r>
                        <a:rPr sz="1000" b="1">
                          <a:solidFill>
                            <a:srgbClr val="FFFFFF"/>
                          </a:solidFill>
                          <a:latin typeface="Calibri"/>
                        </a:rPr>
                        <a:t>Type</a:t>
                      </a:r>
                    </a:p>
                  </a:txBody>
                  <a:tcPr marL="45720" marR="45720" marT="18288" marB="18288" anchor="ctr">
                    <a:solidFill>
                      <a:srgbClr val="003366"/>
                    </a:solidFill>
                  </a:tcPr>
                </a:tc>
                <a:extLst>
                  <a:ext uri="{0D108BD9-81ED-4DB2-BD59-A6C34878D82A}">
                    <a16:rowId xmlns:a16="http://schemas.microsoft.com/office/drawing/2014/main" val="10000"/>
                  </a:ext>
                </a:extLst>
              </a:tr>
              <a:tr h="193330">
                <a:tc>
                  <a:txBody>
                    <a:bodyPr/>
                    <a:lstStyle/>
                    <a:p>
                      <a:pPr algn="l"/>
                      <a:r>
                        <a:rPr sz="1000" b="0" dirty="0">
                          <a:solidFill>
                            <a:srgbClr val="000000"/>
                          </a:solidFill>
                          <a:latin typeface="Calibri"/>
                        </a:rPr>
                        <a:t>id</a:t>
                      </a:r>
                    </a:p>
                  </a:txBody>
                  <a:tcPr marL="45720" marR="45720" marT="18288" marB="18288" anchor="ctr">
                    <a:solidFill>
                      <a:srgbClr val="FFFFFF"/>
                    </a:solidFill>
                  </a:tcPr>
                </a:tc>
                <a:tc>
                  <a:txBody>
                    <a:bodyPr/>
                    <a:lstStyle/>
                    <a:p>
                      <a:pPr algn="l"/>
                      <a:r>
                        <a:rPr sz="1000" b="0">
                          <a:solidFill>
                            <a:srgbClr val="000000"/>
                          </a:solidFill>
                          <a:latin typeface="Calibri"/>
                        </a:rPr>
                        <a:t>INTEGER PK</a:t>
                      </a:r>
                    </a:p>
                  </a:txBody>
                  <a:tcPr marL="45720" marR="45720" marT="18288" marB="18288" anchor="ctr">
                    <a:solidFill>
                      <a:srgbClr val="FFFFFF"/>
                    </a:solidFill>
                  </a:tcPr>
                </a:tc>
                <a:extLst>
                  <a:ext uri="{0D108BD9-81ED-4DB2-BD59-A6C34878D82A}">
                    <a16:rowId xmlns:a16="http://schemas.microsoft.com/office/drawing/2014/main" val="10001"/>
                  </a:ext>
                </a:extLst>
              </a:tr>
              <a:tr h="193330">
                <a:tc>
                  <a:txBody>
                    <a:bodyPr/>
                    <a:lstStyle/>
                    <a:p>
                      <a:pPr algn="l"/>
                      <a:r>
                        <a:rPr sz="1000" b="0">
                          <a:solidFill>
                            <a:srgbClr val="000000"/>
                          </a:solidFill>
                          <a:latin typeface="Calibri"/>
                        </a:rPr>
                        <a:t>device_id</a:t>
                      </a:r>
                    </a:p>
                  </a:txBody>
                  <a:tcPr marL="45720" marR="45720" marT="18288" marB="18288" anchor="ctr">
                    <a:solidFill>
                      <a:srgbClr val="F0F0F0"/>
                    </a:solidFill>
                  </a:tcPr>
                </a:tc>
                <a:tc>
                  <a:txBody>
                    <a:bodyPr/>
                    <a:lstStyle/>
                    <a:p>
                      <a:pPr algn="l"/>
                      <a:r>
                        <a:rPr sz="1000" b="0">
                          <a:solidFill>
                            <a:srgbClr val="000000"/>
                          </a:solidFill>
                          <a:latin typeface="Calibri"/>
                        </a:rPr>
                        <a:t>INTEGER FK</a:t>
                      </a:r>
                    </a:p>
                  </a:txBody>
                  <a:tcPr marL="45720" marR="45720" marT="18288" marB="18288" anchor="ctr">
                    <a:solidFill>
                      <a:srgbClr val="F0F0F0"/>
                    </a:solidFill>
                  </a:tcPr>
                </a:tc>
                <a:extLst>
                  <a:ext uri="{0D108BD9-81ED-4DB2-BD59-A6C34878D82A}">
                    <a16:rowId xmlns:a16="http://schemas.microsoft.com/office/drawing/2014/main" val="10002"/>
                  </a:ext>
                </a:extLst>
              </a:tr>
              <a:tr h="193330">
                <a:tc>
                  <a:txBody>
                    <a:bodyPr/>
                    <a:lstStyle/>
                    <a:p>
                      <a:pPr algn="l"/>
                      <a:r>
                        <a:rPr sz="1000" b="0">
                          <a:solidFill>
                            <a:srgbClr val="000000"/>
                          </a:solidFill>
                          <a:latin typeface="Calibri"/>
                        </a:rPr>
                        <a:t>parameter</a:t>
                      </a:r>
                    </a:p>
                  </a:txBody>
                  <a:tcPr marL="45720" marR="45720" marT="18288" marB="18288" anchor="ctr">
                    <a:solidFill>
                      <a:srgbClr val="FFFFFF"/>
                    </a:solidFill>
                  </a:tcPr>
                </a:tc>
                <a:tc>
                  <a:txBody>
                    <a:bodyPr/>
                    <a:lstStyle/>
                    <a:p>
                      <a:pPr algn="l"/>
                      <a:r>
                        <a:rPr sz="1000" b="0">
                          <a:solidFill>
                            <a:srgbClr val="000000"/>
                          </a:solidFill>
                          <a:latin typeface="Calibri"/>
                        </a:rPr>
                        <a:t>TEXT</a:t>
                      </a:r>
                    </a:p>
                  </a:txBody>
                  <a:tcPr marL="45720" marR="45720" marT="18288" marB="18288" anchor="ctr">
                    <a:solidFill>
                      <a:srgbClr val="FFFFFF"/>
                    </a:solidFill>
                  </a:tcPr>
                </a:tc>
                <a:extLst>
                  <a:ext uri="{0D108BD9-81ED-4DB2-BD59-A6C34878D82A}">
                    <a16:rowId xmlns:a16="http://schemas.microsoft.com/office/drawing/2014/main" val="10003"/>
                  </a:ext>
                </a:extLst>
              </a:tr>
              <a:tr h="193330">
                <a:tc>
                  <a:txBody>
                    <a:bodyPr/>
                    <a:lstStyle/>
                    <a:p>
                      <a:pPr algn="l"/>
                      <a:r>
                        <a:rPr sz="1000" b="0">
                          <a:solidFill>
                            <a:srgbClr val="000000"/>
                          </a:solidFill>
                          <a:latin typeface="Calibri"/>
                        </a:rPr>
                        <a:t>value</a:t>
                      </a:r>
                    </a:p>
                  </a:txBody>
                  <a:tcPr marL="45720" marR="45720" marT="18288" marB="18288" anchor="ctr">
                    <a:solidFill>
                      <a:srgbClr val="F0F0F0"/>
                    </a:solidFill>
                  </a:tcPr>
                </a:tc>
                <a:tc>
                  <a:txBody>
                    <a:bodyPr/>
                    <a:lstStyle/>
                    <a:p>
                      <a:pPr algn="l"/>
                      <a:r>
                        <a:rPr sz="1000" b="0">
                          <a:solidFill>
                            <a:srgbClr val="000000"/>
                          </a:solidFill>
                          <a:latin typeface="Calibri"/>
                        </a:rPr>
                        <a:t>FLOAT</a:t>
                      </a:r>
                    </a:p>
                  </a:txBody>
                  <a:tcPr marL="45720" marR="45720" marT="18288" marB="18288" anchor="ctr">
                    <a:solidFill>
                      <a:srgbClr val="F0F0F0"/>
                    </a:solidFill>
                  </a:tcPr>
                </a:tc>
                <a:extLst>
                  <a:ext uri="{0D108BD9-81ED-4DB2-BD59-A6C34878D82A}">
                    <a16:rowId xmlns:a16="http://schemas.microsoft.com/office/drawing/2014/main" val="10004"/>
                  </a:ext>
                </a:extLst>
              </a:tr>
              <a:tr h="193330">
                <a:tc>
                  <a:txBody>
                    <a:bodyPr/>
                    <a:lstStyle/>
                    <a:p>
                      <a:pPr algn="l"/>
                      <a:r>
                        <a:rPr sz="1000" b="0">
                          <a:solidFill>
                            <a:srgbClr val="000000"/>
                          </a:solidFill>
                          <a:latin typeface="Calibri"/>
                        </a:rPr>
                        <a:t>threshold</a:t>
                      </a:r>
                    </a:p>
                  </a:txBody>
                  <a:tcPr marL="45720" marR="45720" marT="18288" marB="18288" anchor="ctr">
                    <a:solidFill>
                      <a:srgbClr val="FFFFFF"/>
                    </a:solidFill>
                  </a:tcPr>
                </a:tc>
                <a:tc>
                  <a:txBody>
                    <a:bodyPr/>
                    <a:lstStyle/>
                    <a:p>
                      <a:pPr algn="l"/>
                      <a:r>
                        <a:rPr sz="1000" b="0">
                          <a:solidFill>
                            <a:srgbClr val="000000"/>
                          </a:solidFill>
                          <a:latin typeface="Calibri"/>
                        </a:rPr>
                        <a:t>FLOAT</a:t>
                      </a:r>
                    </a:p>
                  </a:txBody>
                  <a:tcPr marL="45720" marR="45720" marT="18288" marB="18288" anchor="ctr">
                    <a:solidFill>
                      <a:srgbClr val="FFFFFF"/>
                    </a:solidFill>
                  </a:tcPr>
                </a:tc>
                <a:extLst>
                  <a:ext uri="{0D108BD9-81ED-4DB2-BD59-A6C34878D82A}">
                    <a16:rowId xmlns:a16="http://schemas.microsoft.com/office/drawing/2014/main" val="10005"/>
                  </a:ext>
                </a:extLst>
              </a:tr>
              <a:tr h="193330">
                <a:tc>
                  <a:txBody>
                    <a:bodyPr/>
                    <a:lstStyle/>
                    <a:p>
                      <a:pPr algn="l"/>
                      <a:r>
                        <a:rPr sz="1000" b="0">
                          <a:solidFill>
                            <a:srgbClr val="000000"/>
                          </a:solidFill>
                          <a:latin typeface="Calibri"/>
                        </a:rPr>
                        <a:t>acknowledged</a:t>
                      </a:r>
                    </a:p>
                  </a:txBody>
                  <a:tcPr marL="45720" marR="45720" marT="18288" marB="18288" anchor="ctr">
                    <a:solidFill>
                      <a:srgbClr val="F0F0F0"/>
                    </a:solidFill>
                  </a:tcPr>
                </a:tc>
                <a:tc>
                  <a:txBody>
                    <a:bodyPr/>
                    <a:lstStyle/>
                    <a:p>
                      <a:pPr algn="l"/>
                      <a:r>
                        <a:rPr sz="1000" b="0" dirty="0">
                          <a:solidFill>
                            <a:srgbClr val="000000"/>
                          </a:solidFill>
                          <a:latin typeface="Calibri"/>
                        </a:rPr>
                        <a:t>BOOLEAN</a:t>
                      </a:r>
                    </a:p>
                  </a:txBody>
                  <a:tcPr marL="45720" marR="45720" marT="18288" marB="18288" anchor="ctr">
                    <a:solidFill>
                      <a:srgbClr val="F0F0F0"/>
                    </a:solidFill>
                  </a:tcPr>
                </a:tc>
                <a:extLst>
                  <a:ext uri="{0D108BD9-81ED-4DB2-BD59-A6C34878D82A}">
                    <a16:rowId xmlns:a16="http://schemas.microsoft.com/office/drawing/2014/main" val="10006"/>
                  </a:ext>
                </a:extLst>
              </a:tr>
            </a:tbl>
          </a:graphicData>
        </a:graphic>
      </p:graphicFrame>
      <p:sp>
        <p:nvSpPr>
          <p:cNvPr id="12" name="Bottom Line"/>
          <p:cNvSpPr/>
          <p:nvPr/>
        </p:nvSpPr>
        <p:spPr>
          <a:xfrm>
            <a:off x="457200" y="6537960"/>
            <a:ext cx="11274552"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Page Number"/>
          <p:cNvSpPr txBox="1"/>
          <p:nvPr/>
        </p:nvSpPr>
        <p:spPr>
          <a:xfrm>
            <a:off x="11430000" y="6446520"/>
            <a:ext cx="640080" cy="320040"/>
          </a:xfrm>
          <a:prstGeom prst="rect">
            <a:avLst/>
          </a:prstGeom>
          <a:noFill/>
        </p:spPr>
        <p:txBody>
          <a:bodyPr wrap="none">
            <a:spAutoFit/>
          </a:bodyPr>
          <a:lstStyle/>
          <a:p>
            <a:pPr algn="r"/>
            <a:r>
              <a:rPr sz="1100">
                <a:solidFill>
                  <a:srgbClr val="333333"/>
                </a:solidFill>
                <a:latin typeface="Calibri"/>
              </a:rPr>
              <a:t>18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FINDINGS</a:t>
            </a:r>
          </a:p>
        </p:txBody>
      </p:sp>
      <p:sp>
        <p:nvSpPr>
          <p:cNvPr id="4" name="TextBox 3"/>
          <p:cNvSpPr txBox="1"/>
          <p:nvPr/>
        </p:nvSpPr>
        <p:spPr>
          <a:xfrm>
            <a:off x="731520" y="1097280"/>
            <a:ext cx="10515600" cy="5029200"/>
          </a:xfrm>
          <a:prstGeom prst="rect">
            <a:avLst/>
          </a:prstGeom>
          <a:noFill/>
        </p:spPr>
        <p:txBody>
          <a:bodyPr wrap="square">
            <a:spAutoFit/>
          </a:bodyPr>
          <a:lstStyle/>
          <a:p>
            <a:pPr>
              <a:lnSpc>
                <a:spcPct val="130000"/>
              </a:lnSpc>
              <a:spcAft>
                <a:spcPts val="1400"/>
              </a:spcAft>
            </a:pPr>
            <a:r>
              <a:rPr sz="1600">
                <a:solidFill>
                  <a:srgbClr val="333333"/>
                </a:solidFill>
                <a:latin typeface="Calibri"/>
              </a:rPr>
              <a:t>1.   Real-time monitoring is feasible with web technologies — Flask + Flask-SocketIO delivered &lt;3s latency</a:t>
            </a:r>
          </a:p>
          <a:p>
            <a:pPr>
              <a:lnSpc>
                <a:spcPct val="130000"/>
              </a:lnSpc>
              <a:spcAft>
                <a:spcPts val="1400"/>
              </a:spcAft>
            </a:pPr>
            <a:r>
              <a:rPr sz="1600">
                <a:solidFill>
                  <a:srgbClr val="333333"/>
                </a:solidFill>
                <a:latin typeface="Calibri"/>
              </a:rPr>
              <a:t>2.   Alert engine enhances awareness — 7 abnormal conditions detected with correct severity levels</a:t>
            </a:r>
          </a:p>
          <a:p>
            <a:pPr>
              <a:lnSpc>
                <a:spcPct val="130000"/>
              </a:lnSpc>
              <a:spcAft>
                <a:spcPts val="1400"/>
              </a:spcAft>
            </a:pPr>
            <a:r>
              <a:rPr sz="1600">
                <a:solidFill>
                  <a:srgbClr val="333333"/>
                </a:solidFill>
                <a:latin typeface="Calibri"/>
              </a:rPr>
              <a:t>3.   Data visualisation improves comprehension — Chart.js enabled quick identification of peak usage</a:t>
            </a:r>
          </a:p>
          <a:p>
            <a:pPr>
              <a:lnSpc>
                <a:spcPct val="130000"/>
              </a:lnSpc>
              <a:spcAft>
                <a:spcPts val="1400"/>
              </a:spcAft>
            </a:pPr>
            <a:r>
              <a:rPr sz="1600">
                <a:solidFill>
                  <a:srgbClr val="333333"/>
                </a:solidFill>
                <a:latin typeface="Calibri"/>
              </a:rPr>
              <a:t>4.   Simulation is a valid educational approach — 20 virtual metres generated realistic residential patterns</a:t>
            </a:r>
          </a:p>
          <a:p>
            <a:pPr>
              <a:lnSpc>
                <a:spcPct val="130000"/>
              </a:lnSpc>
              <a:spcAft>
                <a:spcPts val="1400"/>
              </a:spcAft>
            </a:pPr>
            <a:r>
              <a:rPr sz="1600">
                <a:solidFill>
                  <a:srgbClr val="333333"/>
                </a:solidFill>
                <a:latin typeface="Calibri"/>
              </a:rPr>
              <a:t>5.   Proper authentication is critical — bcrypt hashing eliminated security gaps</a:t>
            </a:r>
          </a:p>
          <a:p>
            <a:pPr>
              <a:lnSpc>
                <a:spcPct val="130000"/>
              </a:lnSpc>
              <a:spcAft>
                <a:spcPts val="1400"/>
              </a:spcAft>
            </a:pPr>
            <a:r>
              <a:rPr sz="1600">
                <a:solidFill>
                  <a:srgbClr val="333333"/>
                </a:solidFill>
                <a:latin typeface="Calibri"/>
              </a:rPr>
              <a:t>6.   Zero-cost simulation is achievable — no hardware or cloud subscription required</a:t>
            </a:r>
          </a:p>
        </p:txBody>
      </p:sp>
      <p:sp>
        <p:nvSpPr>
          <p:cNvPr id="5" name="Rectangle 4"/>
          <p:cNvSpPr/>
          <p:nvPr/>
        </p:nvSpPr>
        <p:spPr>
          <a:xfrm>
            <a:off x="457200" y="6537960"/>
            <a:ext cx="11277295"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0" y="6446520"/>
            <a:ext cx="640080" cy="320040"/>
          </a:xfrm>
          <a:prstGeom prst="rect">
            <a:avLst/>
          </a:prstGeom>
          <a:noFill/>
        </p:spPr>
        <p:txBody>
          <a:bodyPr wrap="none">
            <a:spAutoFit/>
          </a:bodyPr>
          <a:lstStyle/>
          <a:p>
            <a:pPr algn="r"/>
            <a:r>
              <a:rPr sz="1000">
                <a:solidFill>
                  <a:srgbClr val="333333"/>
                </a:solidFill>
                <a:latin typeface="Calibri"/>
              </a:rPr>
              <a:t>20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CHALLENGES AND LESSONS LEARNED</a:t>
            </a:r>
          </a:p>
        </p:txBody>
      </p:sp>
      <p:sp>
        <p:nvSpPr>
          <p:cNvPr id="4" name="TextBox 3"/>
          <p:cNvSpPr txBox="1"/>
          <p:nvPr/>
        </p:nvSpPr>
        <p:spPr>
          <a:xfrm>
            <a:off x="731520" y="1051560"/>
            <a:ext cx="10515600" cy="365760"/>
          </a:xfrm>
          <a:prstGeom prst="rect">
            <a:avLst/>
          </a:prstGeom>
          <a:noFill/>
        </p:spPr>
        <p:txBody>
          <a:bodyPr wrap="square">
            <a:spAutoFit/>
          </a:bodyPr>
          <a:lstStyle/>
          <a:p>
            <a:r>
              <a:rPr sz="2000" b="1">
                <a:solidFill>
                  <a:srgbClr val="003366"/>
                </a:solidFill>
                <a:latin typeface="Calibri"/>
              </a:rPr>
              <a:t>Challenges</a:t>
            </a:r>
          </a:p>
        </p:txBody>
      </p:sp>
      <p:sp>
        <p:nvSpPr>
          <p:cNvPr id="5" name="TextBox 4"/>
          <p:cNvSpPr txBox="1"/>
          <p:nvPr/>
        </p:nvSpPr>
        <p:spPr>
          <a:xfrm>
            <a:off x="914400" y="1463040"/>
            <a:ext cx="10058400" cy="1828800"/>
          </a:xfrm>
          <a:prstGeom prst="rect">
            <a:avLst/>
          </a:prstGeom>
          <a:noFill/>
        </p:spPr>
        <p:txBody>
          <a:bodyPr wrap="square">
            <a:spAutoFit/>
          </a:bodyPr>
          <a:lstStyle/>
          <a:p>
            <a:pPr>
              <a:spcAft>
                <a:spcPts val="800"/>
              </a:spcAft>
            </a:pPr>
            <a:r>
              <a:rPr sz="1400">
                <a:solidFill>
                  <a:srgbClr val="333333"/>
                </a:solidFill>
                <a:latin typeface="Calibri"/>
              </a:rPr>
              <a:t>•  Database schema migration required careful handling when adding columns</a:t>
            </a:r>
          </a:p>
          <a:p>
            <a:pPr>
              <a:spcAft>
                <a:spcPts val="800"/>
              </a:spcAft>
            </a:pPr>
            <a:r>
              <a:rPr sz="1400">
                <a:solidFill>
                  <a:srgbClr val="333333"/>
                </a:solidFill>
                <a:latin typeface="Calibri"/>
              </a:rPr>
              <a:t>•  Session persistence across test methods required robust helper functions</a:t>
            </a:r>
          </a:p>
          <a:p>
            <a:pPr>
              <a:spcAft>
                <a:spcPts val="800"/>
              </a:spcAft>
            </a:pPr>
            <a:r>
              <a:rPr sz="1400">
                <a:solidFill>
                  <a:srgbClr val="333333"/>
                </a:solidFill>
                <a:latin typeface="Calibri"/>
              </a:rPr>
              <a:t>•  Duplicate application instances caused port conflicts</a:t>
            </a:r>
          </a:p>
          <a:p>
            <a:pPr>
              <a:spcAft>
                <a:spcPts val="800"/>
              </a:spcAft>
            </a:pPr>
            <a:r>
              <a:rPr sz="1400">
                <a:solidFill>
                  <a:srgbClr val="333333"/>
                </a:solidFill>
                <a:latin typeface="Calibri"/>
              </a:rPr>
              <a:t>•  Documentation consistency required careful cross-referencing</a:t>
            </a:r>
          </a:p>
        </p:txBody>
      </p:sp>
      <p:sp>
        <p:nvSpPr>
          <p:cNvPr id="6" name="TextBox 5"/>
          <p:cNvSpPr txBox="1"/>
          <p:nvPr/>
        </p:nvSpPr>
        <p:spPr>
          <a:xfrm>
            <a:off x="731520" y="3474720"/>
            <a:ext cx="10515600" cy="365760"/>
          </a:xfrm>
          <a:prstGeom prst="rect">
            <a:avLst/>
          </a:prstGeom>
          <a:noFill/>
        </p:spPr>
        <p:txBody>
          <a:bodyPr wrap="square">
            <a:spAutoFit/>
          </a:bodyPr>
          <a:lstStyle/>
          <a:p>
            <a:r>
              <a:rPr sz="2000" b="1">
                <a:solidFill>
                  <a:srgbClr val="003366"/>
                </a:solidFill>
                <a:latin typeface="Calibri"/>
              </a:rPr>
              <a:t>Lessons Learned</a:t>
            </a:r>
          </a:p>
        </p:txBody>
      </p:sp>
      <p:sp>
        <p:nvSpPr>
          <p:cNvPr id="7" name="TextBox 6"/>
          <p:cNvSpPr txBox="1"/>
          <p:nvPr/>
        </p:nvSpPr>
        <p:spPr>
          <a:xfrm>
            <a:off x="914400" y="3886200"/>
            <a:ext cx="10058400" cy="1828800"/>
          </a:xfrm>
          <a:prstGeom prst="rect">
            <a:avLst/>
          </a:prstGeom>
          <a:noFill/>
        </p:spPr>
        <p:txBody>
          <a:bodyPr wrap="square">
            <a:spAutoFit/>
          </a:bodyPr>
          <a:lstStyle/>
          <a:p>
            <a:pPr>
              <a:spcAft>
                <a:spcPts val="800"/>
              </a:spcAft>
            </a:pPr>
            <a:r>
              <a:rPr sz="1400">
                <a:solidFill>
                  <a:srgbClr val="333333"/>
                </a:solidFill>
                <a:latin typeface="Calibri"/>
              </a:rPr>
              <a:t>•  Test early and often — caught regressions during refactoring</a:t>
            </a:r>
          </a:p>
          <a:p>
            <a:pPr>
              <a:spcAft>
                <a:spcPts val="800"/>
              </a:spcAft>
            </a:pPr>
            <a:r>
              <a:rPr sz="1400">
                <a:solidFill>
                  <a:srgbClr val="333333"/>
                </a:solidFill>
                <a:latin typeface="Calibri"/>
              </a:rPr>
              <a:t>•  Use environment variables for configuration — improved portability and security</a:t>
            </a:r>
          </a:p>
          <a:p>
            <a:pPr>
              <a:spcAft>
                <a:spcPts val="800"/>
              </a:spcAft>
            </a:pPr>
            <a:r>
              <a:rPr sz="1400">
                <a:solidFill>
                  <a:srgbClr val="333333"/>
                </a:solidFill>
                <a:latin typeface="Calibri"/>
              </a:rPr>
              <a:t>•  Validate input at every endpoint — prevented crashes and improved UX</a:t>
            </a:r>
          </a:p>
          <a:p>
            <a:pPr>
              <a:spcAft>
                <a:spcPts val="800"/>
              </a:spcAft>
            </a:pPr>
            <a:r>
              <a:rPr sz="1400">
                <a:solidFill>
                  <a:srgbClr val="333333"/>
                </a:solidFill>
                <a:latin typeface="Calibri"/>
              </a:rPr>
              <a:t>•  Design for testability from the start — simplified comprehensive test coverage</a:t>
            </a:r>
          </a:p>
        </p:txBody>
      </p:sp>
      <p:sp>
        <p:nvSpPr>
          <p:cNvPr id="8" name="Rectangle 7"/>
          <p:cNvSpPr/>
          <p:nvPr/>
        </p:nvSpPr>
        <p:spPr>
          <a:xfrm>
            <a:off x="457200" y="6537960"/>
            <a:ext cx="11277295"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0" y="6446520"/>
            <a:ext cx="640080" cy="320040"/>
          </a:xfrm>
          <a:prstGeom prst="rect">
            <a:avLst/>
          </a:prstGeom>
          <a:noFill/>
        </p:spPr>
        <p:txBody>
          <a:bodyPr wrap="none">
            <a:spAutoFit/>
          </a:bodyPr>
          <a:lstStyle/>
          <a:p>
            <a:pPr algn="r"/>
            <a:r>
              <a:rPr sz="1000">
                <a:solidFill>
                  <a:srgbClr val="333333"/>
                </a:solidFill>
                <a:latin typeface="Calibri"/>
              </a:rPr>
              <a:t>21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CONCLUSIONS</a:t>
            </a:r>
          </a:p>
        </p:txBody>
      </p:sp>
      <p:sp>
        <p:nvSpPr>
          <p:cNvPr id="4" name="TextBox 3"/>
          <p:cNvSpPr txBox="1"/>
          <p:nvPr/>
        </p:nvSpPr>
        <p:spPr>
          <a:xfrm>
            <a:off x="731520" y="1097280"/>
            <a:ext cx="10515600" cy="5029200"/>
          </a:xfrm>
          <a:prstGeom prst="rect">
            <a:avLst/>
          </a:prstGeom>
          <a:noFill/>
        </p:spPr>
        <p:txBody>
          <a:bodyPr wrap="square">
            <a:spAutoFit/>
          </a:bodyPr>
          <a:lstStyle/>
          <a:p>
            <a:pPr>
              <a:lnSpc>
                <a:spcPct val="130000"/>
              </a:lnSpc>
              <a:spcAft>
                <a:spcPts val="1400"/>
              </a:spcAft>
            </a:pPr>
            <a:r>
              <a:rPr sz="1600">
                <a:solidFill>
                  <a:srgbClr val="333333"/>
                </a:solidFill>
                <a:latin typeface="Calibri"/>
              </a:rPr>
              <a:t>•  All 6 specific objectives were achieved</a:t>
            </a:r>
          </a:p>
          <a:p>
            <a:pPr>
              <a:lnSpc>
                <a:spcPct val="130000"/>
              </a:lnSpc>
              <a:spcAft>
                <a:spcPts val="1400"/>
              </a:spcAft>
            </a:pPr>
            <a:r>
              <a:rPr sz="1600">
                <a:solidFill>
                  <a:srgbClr val="333333"/>
                </a:solidFill>
                <a:latin typeface="Calibri"/>
              </a:rPr>
              <a:t>•  The system successfully simulates 20 smart metres with realistic electrical readings</a:t>
            </a:r>
          </a:p>
          <a:p>
            <a:pPr>
              <a:lnSpc>
                <a:spcPct val="130000"/>
              </a:lnSpc>
              <a:spcAft>
                <a:spcPts val="1400"/>
              </a:spcAft>
            </a:pPr>
            <a:r>
              <a:rPr sz="1600">
                <a:solidFill>
                  <a:srgbClr val="333333"/>
                </a:solidFill>
                <a:latin typeface="Calibri"/>
              </a:rPr>
              <a:t>•  Real-time monitoring is delivered via WebSocket with &lt;3s latency</a:t>
            </a:r>
          </a:p>
          <a:p>
            <a:pPr>
              <a:lnSpc>
                <a:spcPct val="130000"/>
              </a:lnSpc>
              <a:spcAft>
                <a:spcPts val="1400"/>
              </a:spcAft>
            </a:pPr>
            <a:r>
              <a:rPr sz="1600">
                <a:solidFill>
                  <a:srgbClr val="333333"/>
                </a:solidFill>
                <a:latin typeface="Calibri"/>
              </a:rPr>
              <a:t>•  The alert engine correctly detects and notifies users of 7 abnormal conditions</a:t>
            </a:r>
          </a:p>
          <a:p>
            <a:pPr>
              <a:lnSpc>
                <a:spcPct val="130000"/>
              </a:lnSpc>
              <a:spcAft>
                <a:spcPts val="1400"/>
              </a:spcAft>
            </a:pPr>
            <a:r>
              <a:rPr sz="1600">
                <a:solidFill>
                  <a:srgbClr val="333333"/>
                </a:solidFill>
                <a:latin typeface="Calibri"/>
              </a:rPr>
              <a:t>•  All 20 test scenarios passed, confirming functional, integration, and security requirements</a:t>
            </a:r>
          </a:p>
          <a:p>
            <a:pPr>
              <a:lnSpc>
                <a:spcPct val="130000"/>
              </a:lnSpc>
              <a:spcAft>
                <a:spcPts val="1400"/>
              </a:spcAft>
            </a:pPr>
            <a:r>
              <a:rPr sz="1600">
                <a:solidFill>
                  <a:srgbClr val="333333"/>
                </a:solidFill>
                <a:latin typeface="Calibri"/>
              </a:rPr>
              <a:t>•  The project demonstrates that IoT-based energy monitoring can be implemented using lightweight, accessible web technologies without physical hardware or cloud subscriptions</a:t>
            </a:r>
          </a:p>
        </p:txBody>
      </p:sp>
      <p:sp>
        <p:nvSpPr>
          <p:cNvPr id="5" name="Rectangle 4"/>
          <p:cNvSpPr/>
          <p:nvPr/>
        </p:nvSpPr>
        <p:spPr>
          <a:xfrm>
            <a:off x="457200" y="6537960"/>
            <a:ext cx="11277295"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0" y="6446520"/>
            <a:ext cx="640080" cy="320040"/>
          </a:xfrm>
          <a:prstGeom prst="rect">
            <a:avLst/>
          </a:prstGeom>
          <a:noFill/>
        </p:spPr>
        <p:txBody>
          <a:bodyPr wrap="none">
            <a:spAutoFit/>
          </a:bodyPr>
          <a:lstStyle/>
          <a:p>
            <a:pPr algn="r"/>
            <a:r>
              <a:rPr sz="1000">
                <a:solidFill>
                  <a:srgbClr val="333333"/>
                </a:solidFill>
                <a:latin typeface="Calibri"/>
              </a:rPr>
              <a:t>22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RECOMMENDATIONS FOR FUTURE WORK</a:t>
            </a:r>
          </a:p>
        </p:txBody>
      </p:sp>
      <p:sp>
        <p:nvSpPr>
          <p:cNvPr id="4" name="TextBox 3"/>
          <p:cNvSpPr txBox="1"/>
          <p:nvPr/>
        </p:nvSpPr>
        <p:spPr>
          <a:xfrm>
            <a:off x="731520" y="1097280"/>
            <a:ext cx="10515600" cy="5029200"/>
          </a:xfrm>
          <a:prstGeom prst="rect">
            <a:avLst/>
          </a:prstGeom>
          <a:noFill/>
        </p:spPr>
        <p:txBody>
          <a:bodyPr wrap="square">
            <a:spAutoFit/>
          </a:bodyPr>
          <a:lstStyle/>
          <a:p>
            <a:pPr>
              <a:lnSpc>
                <a:spcPct val="130000"/>
              </a:lnSpc>
              <a:spcAft>
                <a:spcPts val="1400"/>
              </a:spcAft>
            </a:pPr>
            <a:r>
              <a:rPr sz="1600">
                <a:solidFill>
                  <a:srgbClr val="333333"/>
                </a:solidFill>
                <a:latin typeface="Calibri"/>
              </a:rPr>
              <a:t>1.   Hardware integration — Replace simulator with ESP32 + PZEM-004T modules</a:t>
            </a:r>
          </a:p>
          <a:p>
            <a:pPr>
              <a:lnSpc>
                <a:spcPct val="130000"/>
              </a:lnSpc>
              <a:spcAft>
                <a:spcPts val="1400"/>
              </a:spcAft>
            </a:pPr>
            <a:r>
              <a:rPr sz="1600">
                <a:solidFill>
                  <a:srgbClr val="333333"/>
                </a:solidFill>
                <a:latin typeface="Calibri"/>
              </a:rPr>
              <a:t>2.   Machine learning for anomaly detection — Enhance alert engine with ML models</a:t>
            </a:r>
          </a:p>
          <a:p>
            <a:pPr>
              <a:lnSpc>
                <a:spcPct val="130000"/>
              </a:lnSpc>
              <a:spcAft>
                <a:spcPts val="1400"/>
              </a:spcAft>
            </a:pPr>
            <a:r>
              <a:rPr sz="1600">
                <a:solidFill>
                  <a:srgbClr val="333333"/>
                </a:solidFill>
                <a:latin typeface="Calibri"/>
              </a:rPr>
              <a:t>3.   Mobile application — Develop Flutter or React Native app with push notifications</a:t>
            </a:r>
          </a:p>
          <a:p>
            <a:pPr>
              <a:lnSpc>
                <a:spcPct val="130000"/>
              </a:lnSpc>
              <a:spcAft>
                <a:spcPts val="1400"/>
              </a:spcAft>
            </a:pPr>
            <a:r>
              <a:rPr sz="1600">
                <a:solidFill>
                  <a:srgbClr val="333333"/>
                </a:solidFill>
                <a:latin typeface="Calibri"/>
              </a:rPr>
              <a:t>4.   Cloud deployment — Deploy to AWS, Heroku, or PythonAnywhere for remote access</a:t>
            </a:r>
          </a:p>
          <a:p>
            <a:pPr>
              <a:lnSpc>
                <a:spcPct val="130000"/>
              </a:lnSpc>
              <a:spcAft>
                <a:spcPts val="1400"/>
              </a:spcAft>
            </a:pPr>
            <a:r>
              <a:rPr sz="1600">
                <a:solidFill>
                  <a:srgbClr val="333333"/>
                </a:solidFill>
                <a:latin typeface="Calibri"/>
              </a:rPr>
              <a:t>5.   Historical analytics — Add daily/weekly/monthly reports, trend analysis, cost estimation</a:t>
            </a:r>
          </a:p>
          <a:p>
            <a:pPr>
              <a:lnSpc>
                <a:spcPct val="130000"/>
              </a:lnSpc>
              <a:spcAft>
                <a:spcPts val="1400"/>
              </a:spcAft>
            </a:pPr>
            <a:r>
              <a:rPr sz="1600">
                <a:solidFill>
                  <a:srgbClr val="333333"/>
                </a:solidFill>
                <a:latin typeface="Calibri"/>
              </a:rPr>
              <a:t>6.   Multi-building support — Extend for facility management and campus-wide monitoring</a:t>
            </a:r>
          </a:p>
        </p:txBody>
      </p:sp>
      <p:sp>
        <p:nvSpPr>
          <p:cNvPr id="5" name="Rectangle 4"/>
          <p:cNvSpPr/>
          <p:nvPr/>
        </p:nvSpPr>
        <p:spPr>
          <a:xfrm>
            <a:off x="457200" y="6537960"/>
            <a:ext cx="11277295"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0" y="6446520"/>
            <a:ext cx="640080" cy="320040"/>
          </a:xfrm>
          <a:prstGeom prst="rect">
            <a:avLst/>
          </a:prstGeom>
          <a:noFill/>
        </p:spPr>
        <p:txBody>
          <a:bodyPr wrap="none">
            <a:spAutoFit/>
          </a:bodyPr>
          <a:lstStyle/>
          <a:p>
            <a:pPr algn="r"/>
            <a:r>
              <a:rPr sz="1000">
                <a:solidFill>
                  <a:srgbClr val="333333"/>
                </a:solidFill>
                <a:latin typeface="Calibri"/>
              </a:rPr>
              <a:t>23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REFERENCES</a:t>
            </a:r>
          </a:p>
        </p:txBody>
      </p:sp>
      <p:sp>
        <p:nvSpPr>
          <p:cNvPr id="4" name="TextBox 3"/>
          <p:cNvSpPr txBox="1"/>
          <p:nvPr/>
        </p:nvSpPr>
        <p:spPr>
          <a:xfrm>
            <a:off x="731520" y="1097280"/>
            <a:ext cx="10515600" cy="5029200"/>
          </a:xfrm>
          <a:prstGeom prst="rect">
            <a:avLst/>
          </a:prstGeom>
          <a:noFill/>
        </p:spPr>
        <p:txBody>
          <a:bodyPr wrap="square">
            <a:spAutoFit/>
          </a:bodyPr>
          <a:lstStyle/>
          <a:p>
            <a:pPr>
              <a:lnSpc>
                <a:spcPct val="130000"/>
              </a:lnSpc>
              <a:spcAft>
                <a:spcPts val="1400"/>
              </a:spcAft>
            </a:pPr>
            <a:r>
              <a:rPr sz="1400">
                <a:solidFill>
                  <a:srgbClr val="333333"/>
                </a:solidFill>
                <a:latin typeface="Calibri"/>
              </a:rPr>
              <a:t>•  Al-Ali, A. R. et al. (2017). Smart home energy management system using IoT and big data. IEEE Trans. Consumer Electronics, 63(4).</a:t>
            </a:r>
          </a:p>
          <a:p>
            <a:pPr>
              <a:lnSpc>
                <a:spcPct val="130000"/>
              </a:lnSpc>
              <a:spcAft>
                <a:spcPts val="1400"/>
              </a:spcAft>
            </a:pPr>
            <a:r>
              <a:rPr sz="1400">
                <a:solidFill>
                  <a:srgbClr val="333333"/>
                </a:solidFill>
                <a:latin typeface="Calibri"/>
              </a:rPr>
              <a:t>•  Ashton, K. (2009). That 'Internet of Things' thing. RFID Journal, 22(7).</a:t>
            </a:r>
          </a:p>
          <a:p>
            <a:pPr>
              <a:lnSpc>
                <a:spcPct val="130000"/>
              </a:lnSpc>
              <a:spcAft>
                <a:spcPts val="1400"/>
              </a:spcAft>
            </a:pPr>
            <a:r>
              <a:rPr sz="1400">
                <a:solidFill>
                  <a:srgbClr val="333333"/>
                </a:solidFill>
                <a:latin typeface="Calibri"/>
              </a:rPr>
              <a:t>•  Atzori, L. et al. (2010). The Internet of Things: A survey. Computer Networks, 54(15).</a:t>
            </a:r>
          </a:p>
          <a:p>
            <a:pPr>
              <a:lnSpc>
                <a:spcPct val="130000"/>
              </a:lnSpc>
              <a:spcAft>
                <a:spcPts val="1400"/>
              </a:spcAft>
            </a:pPr>
            <a:r>
              <a:rPr sz="1400">
                <a:solidFill>
                  <a:srgbClr val="333333"/>
                </a:solidFill>
                <a:latin typeface="Calibri"/>
              </a:rPr>
              <a:t>•  Faruqui, A. et al. (2010). Impact of informational feedback on energy consumption. Energy, 35(4).</a:t>
            </a:r>
          </a:p>
          <a:p>
            <a:pPr>
              <a:lnSpc>
                <a:spcPct val="130000"/>
              </a:lnSpc>
              <a:spcAft>
                <a:spcPts val="1400"/>
              </a:spcAft>
            </a:pPr>
            <a:r>
              <a:rPr sz="1400">
                <a:solidFill>
                  <a:srgbClr val="333333"/>
                </a:solidFill>
                <a:latin typeface="Calibri"/>
              </a:rPr>
              <a:t>•  Gubbi, J. et al. (2013). IoT: A vision, architectural elements, and future directions. Future Generation Computer Systems, 29(7).</a:t>
            </a:r>
          </a:p>
          <a:p>
            <a:pPr>
              <a:lnSpc>
                <a:spcPct val="130000"/>
              </a:lnSpc>
              <a:spcAft>
                <a:spcPts val="1400"/>
              </a:spcAft>
            </a:pPr>
            <a:r>
              <a:rPr sz="1400">
                <a:solidFill>
                  <a:srgbClr val="333333"/>
                </a:solidFill>
                <a:latin typeface="Calibri"/>
              </a:rPr>
              <a:t>•  IEA (2024). Electricity Market Report 2024.</a:t>
            </a:r>
          </a:p>
        </p:txBody>
      </p:sp>
      <p:sp>
        <p:nvSpPr>
          <p:cNvPr id="5" name="Rectangle 4"/>
          <p:cNvSpPr/>
          <p:nvPr/>
        </p:nvSpPr>
        <p:spPr>
          <a:xfrm>
            <a:off x="457200" y="6537960"/>
            <a:ext cx="11277295"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0" y="6446520"/>
            <a:ext cx="640080" cy="320040"/>
          </a:xfrm>
          <a:prstGeom prst="rect">
            <a:avLst/>
          </a:prstGeom>
          <a:noFill/>
        </p:spPr>
        <p:txBody>
          <a:bodyPr wrap="none">
            <a:spAutoFit/>
          </a:bodyPr>
          <a:lstStyle/>
          <a:p>
            <a:pPr algn="r"/>
            <a:r>
              <a:rPr sz="1000">
                <a:solidFill>
                  <a:srgbClr val="333333"/>
                </a:solidFill>
                <a:latin typeface="Calibri"/>
              </a:rPr>
              <a:t>24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0" y="1188720"/>
            <a:ext cx="12191695" cy="3017520"/>
          </a:xfrm>
          <a:prstGeom prst="rect">
            <a:avLst/>
          </a:prstGeom>
          <a:noFill/>
        </p:spPr>
        <p:txBody>
          <a:bodyPr wrap="square">
            <a:spAutoFit/>
          </a:bodyPr>
          <a:lstStyle/>
          <a:p>
            <a:pPr algn="ctr"/>
            <a:r>
              <a:rPr sz="3600" b="1">
                <a:solidFill>
                  <a:srgbClr val="FFFFFF"/>
                </a:solidFill>
                <a:latin typeface="Calibri"/>
              </a:rPr>
              <a:t>THANK YOU</a:t>
            </a:r>
          </a:p>
        </p:txBody>
      </p:sp>
      <p:sp>
        <p:nvSpPr>
          <p:cNvPr id="4" name="TextBox 3"/>
          <p:cNvSpPr txBox="1"/>
          <p:nvPr/>
        </p:nvSpPr>
        <p:spPr>
          <a:xfrm>
            <a:off x="0" y="2011680"/>
            <a:ext cx="12191695" cy="1798320"/>
          </a:xfrm>
          <a:prstGeom prst="rect">
            <a:avLst/>
          </a:prstGeom>
          <a:noFill/>
        </p:spPr>
        <p:txBody>
          <a:bodyPr wrap="square">
            <a:spAutoFit/>
          </a:bodyPr>
          <a:lstStyle/>
          <a:p>
            <a:pPr algn="ctr"/>
            <a:r>
              <a:rPr sz="2000" b="0">
                <a:solidFill>
                  <a:srgbClr val="FFFFFF"/>
                </a:solidFill>
                <a:latin typeface="Calibri"/>
              </a:rPr>
              <a:t>Thank you for your attention</a:t>
            </a:r>
          </a:p>
        </p:txBody>
      </p:sp>
      <p:sp>
        <p:nvSpPr>
          <p:cNvPr id="5" name="Rectangle 4"/>
          <p:cNvSpPr/>
          <p:nvPr/>
        </p:nvSpPr>
        <p:spPr>
          <a:xfrm>
            <a:off x="2438247" y="2651760"/>
            <a:ext cx="7315200" cy="18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3017520"/>
            <a:ext cx="12191695" cy="1645920"/>
          </a:xfrm>
          <a:prstGeom prst="rect">
            <a:avLst/>
          </a:prstGeom>
          <a:noFill/>
        </p:spPr>
        <p:txBody>
          <a:bodyPr wrap="square">
            <a:spAutoFit/>
          </a:bodyPr>
          <a:lstStyle/>
          <a:p>
            <a:pPr algn="ctr"/>
            <a:r>
              <a:rPr sz="1800" b="1">
                <a:solidFill>
                  <a:srgbClr val="FFFFFF"/>
                </a:solidFill>
                <a:latin typeface="Calibri"/>
              </a:rPr>
              <a:t>Nuhu Abdulai (B202220513)</a:t>
            </a:r>
          </a:p>
        </p:txBody>
      </p:sp>
      <p:sp>
        <p:nvSpPr>
          <p:cNvPr id="7" name="TextBox 6"/>
          <p:cNvSpPr txBox="1"/>
          <p:nvPr/>
        </p:nvSpPr>
        <p:spPr>
          <a:xfrm>
            <a:off x="0" y="3474720"/>
            <a:ext cx="12191695" cy="1493520"/>
          </a:xfrm>
          <a:prstGeom prst="rect">
            <a:avLst/>
          </a:prstGeom>
          <a:noFill/>
        </p:spPr>
        <p:txBody>
          <a:bodyPr wrap="square">
            <a:spAutoFit/>
          </a:bodyPr>
          <a:lstStyle/>
          <a:p>
            <a:pPr algn="ctr"/>
            <a:r>
              <a:rPr sz="1600" b="0">
                <a:solidFill>
                  <a:srgbClr val="FFFFFF"/>
                </a:solidFill>
                <a:latin typeface="Calibri"/>
              </a:rPr>
              <a:t>Supervisor: Dr. Bright Selorm Kodzo Anibrika</a:t>
            </a:r>
          </a:p>
        </p:txBody>
      </p:sp>
      <p:sp>
        <p:nvSpPr>
          <p:cNvPr id="8" name="TextBox 7"/>
          <p:cNvSpPr txBox="1"/>
          <p:nvPr/>
        </p:nvSpPr>
        <p:spPr>
          <a:xfrm>
            <a:off x="0" y="3931920"/>
            <a:ext cx="12191695" cy="1341120"/>
          </a:xfrm>
          <a:prstGeom prst="rect">
            <a:avLst/>
          </a:prstGeom>
          <a:noFill/>
        </p:spPr>
        <p:txBody>
          <a:bodyPr wrap="square">
            <a:spAutoFit/>
          </a:bodyPr>
          <a:lstStyle/>
          <a:p>
            <a:pPr algn="ctr"/>
            <a:r>
              <a:rPr sz="1400" b="0">
                <a:solidFill>
                  <a:srgbClr val="FFFFFF"/>
                </a:solidFill>
                <a:latin typeface="Calibri"/>
              </a:rPr>
              <a:t>Department of Computer Science</a:t>
            </a:r>
          </a:p>
        </p:txBody>
      </p:sp>
      <p:sp>
        <p:nvSpPr>
          <p:cNvPr id="9" name="TextBox 8"/>
          <p:cNvSpPr txBox="1"/>
          <p:nvPr/>
        </p:nvSpPr>
        <p:spPr>
          <a:xfrm>
            <a:off x="0" y="4343400"/>
            <a:ext cx="12191695" cy="1341120"/>
          </a:xfrm>
          <a:prstGeom prst="rect">
            <a:avLst/>
          </a:prstGeom>
          <a:noFill/>
        </p:spPr>
        <p:txBody>
          <a:bodyPr wrap="square">
            <a:spAutoFit/>
          </a:bodyPr>
          <a:lstStyle/>
          <a:p>
            <a:pPr algn="ctr"/>
            <a:r>
              <a:rPr sz="1400" b="0">
                <a:solidFill>
                  <a:srgbClr val="FFFFFF"/>
                </a:solidFill>
                <a:latin typeface="Calibri"/>
              </a:rPr>
              <a:t>Koforidua Technical University</a:t>
            </a:r>
          </a:p>
        </p:txBody>
      </p:sp>
      <p:sp>
        <p:nvSpPr>
          <p:cNvPr id="10" name="Rectangle 9"/>
          <p:cNvSpPr/>
          <p:nvPr/>
        </p:nvSpPr>
        <p:spPr>
          <a:xfrm>
            <a:off x="2438247" y="4846320"/>
            <a:ext cx="7315200" cy="18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0" y="5212080"/>
            <a:ext cx="12191695" cy="1798320"/>
          </a:xfrm>
          <a:prstGeom prst="rect">
            <a:avLst/>
          </a:prstGeom>
          <a:noFill/>
        </p:spPr>
        <p:txBody>
          <a:bodyPr wrap="square">
            <a:spAutoFit/>
          </a:bodyPr>
          <a:lstStyle/>
          <a:p>
            <a:pPr algn="ctr"/>
            <a:r>
              <a:rPr sz="2000" b="1">
                <a:solidFill>
                  <a:srgbClr val="FFFFFF"/>
                </a:solidFill>
                <a:latin typeface="Calibri"/>
              </a:rPr>
              <a:t>Questions and Discussion</a:t>
            </a:r>
          </a:p>
        </p:txBody>
      </p:sp>
      <p:sp>
        <p:nvSpPr>
          <p:cNvPr id="12" name="Rectangle 11"/>
          <p:cNvSpPr/>
          <p:nvPr/>
        </p:nvSpPr>
        <p:spPr>
          <a:xfrm>
            <a:off x="457200" y="6537960"/>
            <a:ext cx="11277295" cy="18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ABSTRACT</a:t>
            </a:r>
          </a:p>
        </p:txBody>
      </p:sp>
      <p:sp>
        <p:nvSpPr>
          <p:cNvPr id="4" name="TextBox 3"/>
          <p:cNvSpPr txBox="1"/>
          <p:nvPr/>
        </p:nvSpPr>
        <p:spPr>
          <a:xfrm>
            <a:off x="731520" y="1097280"/>
            <a:ext cx="10515600" cy="5029200"/>
          </a:xfrm>
          <a:prstGeom prst="rect">
            <a:avLst/>
          </a:prstGeom>
          <a:noFill/>
        </p:spPr>
        <p:txBody>
          <a:bodyPr wrap="square">
            <a:spAutoFit/>
          </a:bodyPr>
          <a:lstStyle/>
          <a:p>
            <a:pPr>
              <a:lnSpc>
                <a:spcPct val="125000"/>
              </a:lnSpc>
              <a:spcAft>
                <a:spcPts val="1200"/>
              </a:spcAft>
            </a:pPr>
            <a:r>
              <a:rPr sz="1600">
                <a:solidFill>
                  <a:srgbClr val="333333"/>
                </a:solidFill>
                <a:latin typeface="Calibri"/>
              </a:rPr>
              <a:t>Electrical energy is fundamental to modern life, yet most residential consumers have little visibility into their usage. This project designs and simulates an IoT-based smart energy monitoring network with an alert system for a residential building. The system comprises a Python-based device simulator that generates realistic electrical readings (voltage, current, power, energy, temperature, humidity) for twenty virtual smart meters; a Flask-based backend that receives, stores, and broadcasts the data through a REST API and WebSocket; and a real-time web dashboard built with HTML5, CSS3, JavaScript and Chart.js that presents live charts, device status cards, an alert panel, and a location-based device map. A threshold-based alert engine continuously detects abnormal conditions such as over/under-voltage, over-current, high power, high/low temperature, device offline, and usage anomalies, and notifies the user in real time. The system was developed using the Agile (Scrum) methodology and validated through unit, integration, validation, and security testing, with all 115 test cases passing. Recommendations include extending the simulation to physical hardware using ESP32 microcontrollers with PZEM-004T metering modules and adopting machine-learning-based anomaly detection.</a:t>
            </a:r>
          </a:p>
        </p:txBody>
      </p:sp>
      <p:sp>
        <p:nvSpPr>
          <p:cNvPr id="5" name="Rectangle 4"/>
          <p:cNvSpPr/>
          <p:nvPr/>
        </p:nvSpPr>
        <p:spPr>
          <a:xfrm>
            <a:off x="457200" y="6537960"/>
            <a:ext cx="11277295"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0" y="6446520"/>
            <a:ext cx="640080" cy="320040"/>
          </a:xfrm>
          <a:prstGeom prst="rect">
            <a:avLst/>
          </a:prstGeom>
          <a:noFill/>
        </p:spPr>
        <p:txBody>
          <a:bodyPr wrap="none">
            <a:spAutoFit/>
          </a:bodyPr>
          <a:lstStyle/>
          <a:p>
            <a:pPr algn="r"/>
            <a:r>
              <a:rPr sz="1000">
                <a:solidFill>
                  <a:srgbClr val="333333"/>
                </a:solidFill>
                <a:latin typeface="Calibri"/>
              </a:rPr>
              <a:t>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ACADEMIC AND PRACTICAL RELEVANCE</a:t>
            </a:r>
          </a:p>
        </p:txBody>
      </p:sp>
      <p:sp>
        <p:nvSpPr>
          <p:cNvPr id="4" name="TextBox 3"/>
          <p:cNvSpPr txBox="1"/>
          <p:nvPr/>
        </p:nvSpPr>
        <p:spPr>
          <a:xfrm>
            <a:off x="731520" y="1097280"/>
            <a:ext cx="10515600" cy="5029200"/>
          </a:xfrm>
          <a:prstGeom prst="rect">
            <a:avLst/>
          </a:prstGeom>
          <a:noFill/>
        </p:spPr>
        <p:txBody>
          <a:bodyPr wrap="square">
            <a:spAutoFit/>
          </a:bodyPr>
          <a:lstStyle/>
          <a:p>
            <a:pPr>
              <a:lnSpc>
                <a:spcPct val="125000"/>
              </a:lnSpc>
              <a:spcAft>
                <a:spcPts val="1200"/>
              </a:spcAft>
            </a:pPr>
            <a:r>
              <a:rPr sz="1600">
                <a:solidFill>
                  <a:srgbClr val="333333"/>
                </a:solidFill>
                <a:latin typeface="Calibri"/>
              </a:rPr>
              <a:t>•  Academic Relevance — demonstrates the real-world application of IoT architecture (Perception, Network and Application layers) and provides a reusable platform for IoT and web-development teaching.</a:t>
            </a:r>
          </a:p>
          <a:p>
            <a:pPr/>
            <a:r>
              <a:rPr sz="1600">
                <a:solidFill>
                  <a:srgbClr val="333333"/>
                </a:solidFill>
                <a:latin typeface="Calibri"/>
              </a:rPr>
              <a:t>•  Practical Relevance — real-time visibility into consumption helps households reduce waste and lower bills, and offers a low-cost, zero-hardware template for larger deployments.</a:t>
            </a:r>
          </a:p>
          <a:p>
            <a:pPr/>
            <a:r>
              <a:rPr sz="1600">
                <a:solidFill>
                  <a:srgbClr val="333333"/>
                </a:solidFill>
                <a:latin typeface="Calibri"/>
              </a:rPr>
              <a:t>•  Beneficiaries — Households and residents gain awareness and cost savings.</a:t>
            </a:r>
          </a:p>
          <a:p>
            <a:pPr/>
            <a:r>
              <a:rPr sz="1600">
                <a:solidFill>
                  <a:srgbClr val="333333"/>
                </a:solidFill>
                <a:latin typeface="Calibri"/>
              </a:rPr>
              <a:t>•  Beneficiaries — Utility companies obtain representative demand and load data.</a:t>
            </a:r>
          </a:p>
          <a:p>
            <a:pPr/>
            <a:r>
              <a:rPr sz="1600">
                <a:solidFill>
                  <a:srgbClr val="333333"/>
                </a:solidFill>
                <a:latin typeface="Calibri"/>
              </a:rPr>
              <a:t>•  Beneficiaries — Students and researchers gain a hands-on IoT learning platform.</a:t>
            </a:r>
          </a:p>
          <a:p>
            <a:pPr/>
            <a:r>
              <a:rPr sz="1600">
                <a:solidFill>
                  <a:srgbClr val="333333"/>
                </a:solidFill>
                <a:latin typeface="Calibri"/>
              </a:rPr>
              <a:t>•  Beneficiaries — Policymakers receive evidence to support energy-efficiency policies.</a:t>
            </a:r>
          </a:p>
        </p:txBody>
      </p:sp>
      <p:sp>
        <p:nvSpPr>
          <p:cNvPr id="5" name="Rectangle 4"/>
          <p:cNvSpPr/>
          <p:nvPr/>
        </p:nvSpPr>
        <p:spPr>
          <a:xfrm>
            <a:off x="457200" y="6537960"/>
            <a:ext cx="11277295"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0" y="6446520"/>
            <a:ext cx="640080" cy="320040"/>
          </a:xfrm>
          <a:prstGeom prst="rect">
            <a:avLst/>
          </a:prstGeom>
          <a:noFill/>
        </p:spPr>
        <p:txBody>
          <a:bodyPr wrap="none">
            <a:spAutoFit/>
          </a:bodyPr>
          <a:lstStyle/>
          <a:p>
            <a:pPr algn="r"/>
            <a:r>
              <a:rPr sz="1000">
                <a:solidFill>
                  <a:srgbClr val="333333"/>
                </a:solidFill>
                <a:latin typeface="Calibri"/>
              </a:rPr>
              <a:t>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PROJECT ACTIVITY PLANNING (12 WEEKS)</a:t>
            </a:r>
          </a:p>
        </p:txBody>
      </p:sp>
      <p:sp>
        <p:nvSpPr>
          <p:cNvPr id="4" name="TextBox 3"/>
          <p:cNvSpPr txBox="1"/>
          <p:nvPr/>
        </p:nvSpPr>
        <p:spPr>
          <a:xfrm>
            <a:off x="731520" y="1097280"/>
            <a:ext cx="10515600" cy="5029200"/>
          </a:xfrm>
          <a:prstGeom prst="rect">
            <a:avLst/>
          </a:prstGeom>
          <a:noFill/>
        </p:spPr>
        <p:txBody>
          <a:bodyPr wrap="square">
            <a:spAutoFit/>
          </a:bodyPr>
          <a:lstStyle/>
          <a:p>
            <a:pPr>
              <a:lnSpc>
                <a:spcPct val="125000"/>
              </a:lnSpc>
              <a:spcAft>
                <a:spcPts val="1200"/>
              </a:spcAft>
            </a:pPr>
            <a:r>
              <a:rPr sz="1600">
                <a:solidFill>
                  <a:srgbClr val="333333"/>
                </a:solidFill>
                <a:latin typeface="Calibri"/>
              </a:rPr>
              <a:t>•  Weeks 1–2 — Problem definition, literature review, and requirements gathering.</a:t>
            </a:r>
          </a:p>
          <a:p>
            <a:pPr/>
            <a:r>
              <a:rPr sz="1600">
                <a:solidFill>
                  <a:srgbClr val="333333"/>
                </a:solidFill>
                <a:latin typeface="Calibri"/>
              </a:rPr>
              <a:t>•  Weeks 3–4 — System architecture design and UML modelling.</a:t>
            </a:r>
          </a:p>
          <a:p>
            <a:pPr/>
            <a:r>
              <a:rPr sz="1600">
                <a:solidFill>
                  <a:srgbClr val="333333"/>
                </a:solidFill>
                <a:latin typeface="Calibri"/>
              </a:rPr>
              <a:t>•  Weeks 5–6 — Device simulator and backend REST API development.</a:t>
            </a:r>
          </a:p>
          <a:p>
            <a:pPr/>
            <a:r>
              <a:rPr sz="1600">
                <a:solidFill>
                  <a:srgbClr val="333333"/>
                </a:solidFill>
                <a:latin typeface="Calibri"/>
              </a:rPr>
              <a:t>•  Weeks 7–8 — Alert engine, WebSocket, and web dashboard development.</a:t>
            </a:r>
          </a:p>
          <a:p>
            <a:pPr/>
            <a:r>
              <a:rPr sz="1600">
                <a:solidFill>
                  <a:srgbClr val="333333"/>
                </a:solidFill>
                <a:latin typeface="Calibri"/>
              </a:rPr>
              <a:t>•  Weeks 9–10 — Unit, integration, validation, and security testing.</a:t>
            </a:r>
          </a:p>
          <a:p>
            <a:pPr/>
            <a:r>
              <a:rPr sz="1600">
                <a:solidFill>
                  <a:srgbClr val="333333"/>
                </a:solidFill>
                <a:latin typeface="Calibri"/>
              </a:rPr>
              <a:t>•  Weeks 11–12 — Documentation, screenshots, and defence preparation.</a:t>
            </a:r>
          </a:p>
          <a:p>
            <a:pPr/>
            <a:r>
              <a:rPr sz="1600">
                <a:solidFill>
                  <a:srgbClr val="333333"/>
                </a:solidFill>
                <a:latin typeface="Calibri"/>
              </a:rPr>
              <a:t>•  Tracked using the Agile (Scrum) methodology with a Gantt chart.</a:t>
            </a:r>
          </a:p>
        </p:txBody>
      </p:sp>
      <p:sp>
        <p:nvSpPr>
          <p:cNvPr id="5" name="Rectangle 4"/>
          <p:cNvSpPr/>
          <p:nvPr/>
        </p:nvSpPr>
        <p:spPr>
          <a:xfrm>
            <a:off x="457200" y="6537960"/>
            <a:ext cx="11277295"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0" y="6446520"/>
            <a:ext cx="640080" cy="320040"/>
          </a:xfrm>
          <a:prstGeom prst="rect">
            <a:avLst/>
          </a:prstGeom>
          <a:noFill/>
        </p:spPr>
        <p:txBody>
          <a:bodyPr wrap="none">
            <a:spAutoFit/>
          </a:bodyPr>
          <a:lstStyle/>
          <a:p>
            <a:pPr algn="r"/>
            <a:r>
              <a:rPr sz="1000">
                <a:solidFill>
                  <a:srgbClr val="333333"/>
                </a:solidFill>
                <a:latin typeface="Calibri"/>
              </a:rPr>
              <a:t>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REVIEWED SYSTEMS</a:t>
            </a:r>
          </a:p>
        </p:txBody>
      </p:sp>
      <p:sp>
        <p:nvSpPr>
          <p:cNvPr id="4" name="TextBox 3"/>
          <p:cNvSpPr txBox="1"/>
          <p:nvPr/>
        </p:nvSpPr>
        <p:spPr>
          <a:xfrm>
            <a:off x="731520" y="1097280"/>
            <a:ext cx="10515600" cy="5029200"/>
          </a:xfrm>
          <a:prstGeom prst="rect">
            <a:avLst/>
          </a:prstGeom>
          <a:noFill/>
        </p:spPr>
        <p:txBody>
          <a:bodyPr wrap="square">
            <a:spAutoFit/>
          </a:bodyPr>
          <a:lstStyle/>
          <a:p>
            <a:pPr>
              <a:lnSpc>
                <a:spcPct val="125000"/>
              </a:lnSpc>
              <a:spcAft>
                <a:spcPts val="1200"/>
              </a:spcAft>
            </a:pPr>
            <a:r>
              <a:rPr sz="1600">
                <a:solidFill>
                  <a:srgbClr val="333333"/>
                </a:solidFill>
                <a:latin typeface="Calibri"/>
              </a:rPr>
              <a:t>•  AWS IoT Core — managed cloud IoT platform with MQTT broker, device shadow, and rules engine.</a:t>
            </a:r>
          </a:p>
          <a:p>
            <a:pPr lvl="1"/>
            <a:r>
              <a:rPr sz="1600">
                <a:solidFill>
                  <a:srgbClr val="333333"/>
                </a:solidFill>
                <a:latin typeface="Calibri"/>
              </a:rPr>
              <a:t>    –  Good: scalable, secure, fully managed. | Bad: paid subscription, cloud-only, complex.</a:t>
            </a:r>
          </a:p>
          <a:p>
            <a:pPr/>
            <a:r>
              <a:rPr sz="1600">
                <a:solidFill>
                  <a:srgbClr val="333333"/>
                </a:solidFill>
                <a:latin typeface="Calibri"/>
              </a:rPr>
              <a:t>•  openHAB — open-source home-automation platform with bindings and a rule engine.</a:t>
            </a:r>
          </a:p>
          <a:p>
            <a:pPr lvl="1"/>
            <a:r>
              <a:rPr sz="1600">
                <a:solidFill>
                  <a:srgbClr val="333333"/>
                </a:solidFill>
                <a:latin typeface="Calibri"/>
              </a:rPr>
              <a:t>    –  Good: free, extensible, local-first. | Bad: Java dependency, steep learning curve, dated UI.</a:t>
            </a:r>
          </a:p>
          <a:p>
            <a:pPr/>
            <a:r>
              <a:rPr sz="1600">
                <a:solidFill>
                  <a:srgbClr val="333333"/>
                </a:solidFill>
                <a:latin typeface="Calibri"/>
              </a:rPr>
              <a:t>•  Blynk IoT Platform — low-code mobile-app builder with cloud backend.</a:t>
            </a:r>
          </a:p>
          <a:p>
            <a:pPr lvl="1"/>
            <a:r>
              <a:rPr sz="1600">
                <a:solidFill>
                  <a:srgbClr val="333333"/>
                </a:solidFill>
                <a:latin typeface="Calibri"/>
              </a:rPr>
              <a:t>    –  Good: rapid prototyping, easy to use. | Bad: subscription cost, limited analytics.</a:t>
            </a:r>
          </a:p>
          <a:p>
            <a:pPr/>
            <a:r>
              <a:rPr sz="1600">
                <a:solidFill>
                  <a:srgbClr val="333333"/>
                </a:solidFill>
                <a:latin typeface="Calibri"/>
              </a:rPr>
              <a:t>•  ESP32 + PZEM-004T — hardware reference: microcontroller and energy metering module.</a:t>
            </a:r>
          </a:p>
          <a:p>
            <a:pPr lvl="1"/>
            <a:r>
              <a:rPr sz="1600">
                <a:solidFill>
                  <a:srgbClr val="333333"/>
                </a:solidFill>
                <a:latin typeface="Calibri"/>
              </a:rPr>
              <a:t>    –  Good: real sensing, low cost. | Bad: physical wiring, calibration, power-supply constraints.</a:t>
            </a:r>
          </a:p>
          <a:p>
            <a:pPr/>
            <a:r>
              <a:rPr sz="1600">
                <a:solidFill>
                  <a:srgbClr val="333333"/>
                </a:solidFill>
                <a:latin typeface="Calibri"/>
              </a:rPr>
              <a:t>Summary — unlike these systems, ours is fully simulation-based, lightweight, and requires no hardware or cloud subscription.</a:t>
            </a:r>
          </a:p>
        </p:txBody>
      </p:sp>
      <p:sp>
        <p:nvSpPr>
          <p:cNvPr id="5" name="Rectangle 4"/>
          <p:cNvSpPr/>
          <p:nvPr/>
        </p:nvSpPr>
        <p:spPr>
          <a:xfrm>
            <a:off x="457200" y="6537960"/>
            <a:ext cx="11277295"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0" y="6446520"/>
            <a:ext cx="640080" cy="320040"/>
          </a:xfrm>
          <a:prstGeom prst="rect">
            <a:avLst/>
          </a:prstGeom>
          <a:noFill/>
        </p:spPr>
        <p:txBody>
          <a:bodyPr wrap="none">
            <a:spAutoFit/>
          </a:bodyPr>
          <a:lstStyle/>
          <a:p>
            <a:pPr algn="r"/>
            <a:r>
              <a:rPr sz="1000">
                <a:solidFill>
                  <a:srgbClr val="333333"/>
                </a:solidFill>
                <a:latin typeface="Calibri"/>
              </a:rPr>
              <a:t>10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640080"/>
          </a:xfrm>
          <a:prstGeom prst="rect">
            <a:avLst/>
          </a:prstGeom>
          <a:noFill/>
        </p:spPr>
        <p:txBody>
          <a:bodyPr wrap="square">
            <a:spAutoFit/>
          </a:bodyPr>
          <a:lstStyle/>
          <a:p>
            <a:pPr algn="l"/>
            <a:r>
              <a:rPr sz="2400" b="1">
                <a:solidFill>
                  <a:srgbClr val="FFFFFF"/>
                </a:solidFill>
                <a:latin typeface="Calibri"/>
              </a:rPr>
              <a:t>TESTING AND RESULTS</a:t>
            </a:r>
          </a:p>
        </p:txBody>
      </p:sp>
      <p:sp>
        <p:nvSpPr>
          <p:cNvPr id="4" name="TextBox 3"/>
          <p:cNvSpPr txBox="1"/>
          <p:nvPr/>
        </p:nvSpPr>
        <p:spPr>
          <a:xfrm>
            <a:off x="731520" y="1097280"/>
            <a:ext cx="10515600" cy="5029200"/>
          </a:xfrm>
          <a:prstGeom prst="rect">
            <a:avLst/>
          </a:prstGeom>
          <a:noFill/>
        </p:spPr>
        <p:txBody>
          <a:bodyPr wrap="square">
            <a:spAutoFit/>
          </a:bodyPr>
          <a:lstStyle/>
          <a:p>
            <a:pPr>
              <a:lnSpc>
                <a:spcPct val="125000"/>
              </a:lnSpc>
              <a:spcAft>
                <a:spcPts val="1200"/>
              </a:spcAft>
            </a:pPr>
            <a:r>
              <a:rPr sz="1600">
                <a:solidFill>
                  <a:srgbClr val="333333"/>
                </a:solidFill>
                <a:latin typeface="Calibri"/>
              </a:rPr>
              <a:t>•  Testing plan — unit, integration, validation, and security testing; all 115 test cases passed.</a:t>
            </a:r>
          </a:p>
          <a:p>
            <a:pPr/>
            <a:r>
              <a:rPr sz="1600">
                <a:solidFill>
                  <a:srgbClr val="333333"/>
                </a:solidFill>
                <a:latin typeface="Calibri"/>
              </a:rPr>
              <a:t>•  Verification — database schema, REST API endpoints, authentication (bcrypt), and input validation.</a:t>
            </a:r>
          </a:p>
          <a:p>
            <a:pPr/>
            <a:r>
              <a:rPr sz="1600">
                <a:solidFill>
                  <a:srgbClr val="333333"/>
                </a:solidFill>
                <a:latin typeface="Calibri"/>
              </a:rPr>
              <a:t>•  Validation — all six specific objectives verified against live simulated data streaming.</a:t>
            </a:r>
          </a:p>
          <a:p>
            <a:pPr/>
            <a:r>
              <a:rPr sz="1600">
                <a:solidFill>
                  <a:srgbClr val="333333"/>
                </a:solidFill>
                <a:latin typeface="Calibri"/>
              </a:rPr>
              <a:t>•  Security — password hashing, session management, and login enforcement on all protected API routes.</a:t>
            </a:r>
          </a:p>
          <a:p>
            <a:pPr/>
            <a:r>
              <a:rPr sz="1600">
                <a:solidFill>
                  <a:srgbClr val="333333"/>
                </a:solidFill>
                <a:latin typeface="Calibri"/>
              </a:rPr>
              <a:t>•  Real-time delivery — live charts and WebSocket alerts update in real time as readings stream in.</a:t>
            </a:r>
          </a:p>
          <a:p>
            <a:pPr/>
            <a:r>
              <a:rPr sz="1600">
                <a:solidFill>
                  <a:srgbClr val="333333"/>
                </a:solidFill>
                <a:latin typeface="Calibri"/>
              </a:rPr>
              <a:t>•  Responses to feedback — persistent storage adopted (PostgreSQL on Render); duplicate alerts suppressed.</a:t>
            </a:r>
          </a:p>
        </p:txBody>
      </p:sp>
      <p:sp>
        <p:nvSpPr>
          <p:cNvPr id="5" name="Rectangle 4"/>
          <p:cNvSpPr/>
          <p:nvPr/>
        </p:nvSpPr>
        <p:spPr>
          <a:xfrm>
            <a:off x="457200" y="6537960"/>
            <a:ext cx="11277295" cy="1828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0" y="6446520"/>
            <a:ext cx="640080" cy="320040"/>
          </a:xfrm>
          <a:prstGeom prst="rect">
            <a:avLst/>
          </a:prstGeom>
          <a:noFill/>
        </p:spPr>
        <p:txBody>
          <a:bodyPr wrap="none">
            <a:spAutoFit/>
          </a:bodyPr>
          <a:lstStyle/>
          <a:p>
            <a:pPr algn="r"/>
            <a:r>
              <a:rPr sz="1000">
                <a:solidFill>
                  <a:srgbClr val="333333"/>
                </a:solidFill>
                <a:latin typeface="Calibri"/>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1676</Words>
  <Application>Microsoft Office PowerPoint</Application>
  <PresentationFormat>Widescreen</PresentationFormat>
  <Paragraphs>293</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POLYMATH</cp:lastModifiedBy>
  <cp:revision>2</cp:revision>
  <dcterms:created xsi:type="dcterms:W3CDTF">2013-01-27T09:14:16Z</dcterms:created>
  <dcterms:modified xsi:type="dcterms:W3CDTF">2026-07-17T08:39:08Z</dcterms:modified>
  <cp:category/>
</cp:coreProperties>
</file>