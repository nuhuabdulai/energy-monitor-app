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408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097280"/>
            <a:ext cx="12191695" cy="240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DESIGN AND SIMULATION OF AN IoT-BASED
SMART ENERGY MONITORING AND ALERT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377440"/>
            <a:ext cx="12191695" cy="1798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"/>
              </a:rPr>
              <a:t>A Case Study of a Residential Building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438247" y="2926080"/>
            <a:ext cx="731520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NUHU ABDULAI (B202220513)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94760"/>
            <a:ext cx="12191695" cy="149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Supervisor: Dr. Bright Selorm Kodzo Anibrika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297680"/>
            <a:ext cx="12191695" cy="1341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Department of Computer Science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709160"/>
            <a:ext cx="12191695" cy="1341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Koforidua Technical University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212080"/>
            <a:ext cx="12191695" cy="1341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2025/2026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6537960"/>
            <a:ext cx="11277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PRESENTATION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1.   Introduction and Background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2.   Problem Statement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3.   Aim and Objectives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4.   Scope and Limitations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5.   Literature Review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6.  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8872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7.   Proposed System Architecture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8.   Implementation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9.   Testing and Results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10.  Findings and Challenges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11.  Conclusions and Recommendations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537960"/>
            <a:ext cx="11277295" cy="182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INTRODUCTION AND 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Electrical energy is fundamental to modern civilisation; residential consumption accounts for ~40% of national demand in Ghana (ECG)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Global electricity demand grew 2.2% in 2023 (IEA, 2024)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Traditional analogue meters provide only cumulative consumption — no real-time visibility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IoT enables continuous measurement of voltage, current, power, energy, temperature, and humidity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Real-time feedback on energy usage reduces consumption by 5–15% in residential settings (Faruqui et al., 2010)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This project proposes a simulation-based IoT smart energy monitoring and alert system for residential buildings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537960"/>
            <a:ext cx="11277295" cy="182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Lack of awareness: Consumers cannot see appliance-level energy consumption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Delayed detection of faults: Malfunctioning appliances may go unnoticed for weeks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Peak demand blind spots: No real-time data to identify peak usage periods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No alert mechanism: Existing meters do not notify users of abnormal conditions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Existing IoT solutions require expensive hardware and cloud subscriptions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389120"/>
            <a:ext cx="10058400" cy="1371600"/>
          </a:xfrm>
          <a:prstGeom prst="roundRect">
            <a:avLst/>
          </a:prstGeom>
          <a:solidFill>
            <a:srgbClr val="DCEB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l"/>
            <a:r>
              <a:rPr sz="1600" b="1">
                <a:solidFill>
                  <a:srgbClr val="003366"/>
                </a:solidFill>
                <a:latin typeface="Calibri"/>
              </a:rPr>
              <a:t>Research Question:</a:t>
            </a:r>
          </a:p>
          <a:p>
            <a:pPr algn="l">
              <a:spcBef>
                <a:spcPts val="600"/>
              </a:spcBef>
            </a:pPr>
            <a:r>
              <a:rPr sz="1500">
                <a:solidFill>
                  <a:srgbClr val="333333"/>
                </a:solidFill>
                <a:latin typeface="Calibri"/>
              </a:rPr>
              <a:t>How can an IoT-based smart energy monitoring network with an alert system be designed and simulated without physical hardware investment?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537960"/>
            <a:ext cx="11277295" cy="182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AIM AND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3366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i="1">
                <a:solidFill>
                  <a:srgbClr val="333333"/>
                </a:solidFill>
                <a:latin typeface="Calibri"/>
              </a:rPr>
              <a:t>Design and simulate an IoT-based smart energy monitoring network with an alert system providing real-time electricity consumption information for a residential building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3366"/>
                </a:solidFill>
                <a:latin typeface="Calibri"/>
              </a:rPr>
              <a:t>Specific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1.   Design a system architecture for simulating multiple smart energy metres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2.   Develop a device simulator generating realistic electrical data for 20 virtual devices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3.   Implement a Flask backend with REST API and WebSocket support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4.   Develop a real-time web dashboard with live charts, device cards, and status map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5.   Implement an alert engine detecting abnormal readings and notifying users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6.   Validate the system through unit, integration, and security testing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37960"/>
            <a:ext cx="11277295" cy="182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SCOPE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3366"/>
                </a:solidFill>
                <a:latin typeface="Calibri"/>
              </a:rPr>
              <a:t>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Python-based device simulator for 20 virtual metres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Flask backend with RESTful API and WebSocket support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SQLite database for device, reading, and alert records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Web dashboard with live charts, device cards, alert panel, and device map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Alert engine with configurable thresholds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3366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690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System is simulated — no physical sensors, microcontrollers, or electrical wiring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Runs on local network (LAN) — not deployed to cloud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No mobile application — access limited to desktop browsers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Alert engine uses simulated thresholds — real-world calibration requires domain expertise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Hardware challenges (sensor calibration, network reliability) not addressed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37960"/>
            <a:ext cx="11277295" cy="182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LITERATURE REVIEW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Strengths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Weaknesses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AWS IoT 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Cloud (Managed)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Enterprise-grade,</a:t>
                      </a:r>
                    </a:p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scalable, secure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Expensive, complex,</a:t>
                      </a:r>
                    </a:p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vendor lock-in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openHAB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Open-source (Local)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Free, 200+ devices,</a:t>
                      </a:r>
                    </a:p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local processing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Steep learning curve,</a:t>
                      </a:r>
                    </a:p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Java-heavy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Blynk IoT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Cloud (Low-code)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Rapid prototyping,</a:t>
                      </a:r>
                    </a:p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mobile-first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No web dashboard,</a:t>
                      </a:r>
                    </a:p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cloud dependency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ESP32+PZEM-004T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Hardware (DIY)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Low-cost, real</a:t>
                      </a:r>
                    </a:p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measurements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Requires wiring,</a:t>
                      </a:r>
                    </a:p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no built-in dashboard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4572000"/>
            <a:ext cx="10058400" cy="914400"/>
          </a:xfrm>
          <a:prstGeom prst="roundRect">
            <a:avLst/>
          </a:prstGeom>
          <a:solidFill>
            <a:srgbClr val="DCEB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600" b="1">
                <a:solidFill>
                  <a:srgbClr val="003366"/>
                </a:solidFill>
                <a:latin typeface="Calibri"/>
              </a:rPr>
              <a:t>Our System:  Fully simulation-based, real-time WebSocket, lightweight Python/Flask, zero hardware cost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537960"/>
            <a:ext cx="11277295" cy="182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METHODOLOGY — AGILE (SCRUM)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3366"/>
                </a:solidFill>
                <a:latin typeface="Calibri"/>
              </a:rPr>
              <a:t>Why Agile?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Iterative development with rapid feedback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Accommodates changing requirements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Early integration testing reduces late-stage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3366"/>
                </a:solidFill>
                <a:latin typeface="Calibri"/>
              </a:rPr>
              <a:t>12-Week Sprint Plan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3429000"/>
          <a:ext cx="96012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Deliverable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Planning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Weeks 1–2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Requirements, Gantt chart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Design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Weeks 3–4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Architecture, UML models, DB schema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Sprint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Weeks 5–6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Simulator v1.0, Backend API v1.0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Sprint 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Weeks 7–8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Dashboard v1.0, Alert engine v1.0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Testing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Weeks 9–10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Test reports, bug fixes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Documentation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Weeks 11–12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Final report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6537960"/>
            <a:ext cx="11277295" cy="182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3474720" cy="5029200"/>
          </a:xfrm>
          <a:prstGeom prst="roundRect">
            <a:avLst/>
          </a:prstGeom>
          <a:solidFill>
            <a:srgbClr val="E6F2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rtlCol="0" anchor="ctr"/>
          <a:lstStyle/>
          <a:p>
            <a:pPr algn="ctr"/>
            <a:r>
              <a:rPr sz="1200" b="1">
                <a:solidFill>
                  <a:srgbClr val="003366"/>
                </a:solidFill>
                <a:latin typeface="Calibri"/>
              </a:rPr>
              <a:t>TIER 1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03366"/>
                </a:solidFill>
                <a:latin typeface="Calibri"/>
              </a:rPr>
              <a:t>Device Simulator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20 virtual smart metres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Unique IDs &amp; location labels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Generates readings every 3s: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  power, voltage, current,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  energy, temperature, humidity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Sends data via HTTP POST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840480" y="3291840"/>
            <a:ext cx="822960" cy="411480"/>
          </a:xfrm>
          <a:prstGeom prst="rightArrow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754880" y="1097280"/>
            <a:ext cx="3474720" cy="5029200"/>
          </a:xfrm>
          <a:prstGeom prst="roundRect">
            <a:avLst/>
          </a:prstGeom>
          <a:solidFill>
            <a:srgbClr val="E6F2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rtlCol="0" anchor="ctr"/>
          <a:lstStyle/>
          <a:p>
            <a:pPr algn="ctr"/>
            <a:r>
              <a:rPr sz="1200" b="1">
                <a:solidFill>
                  <a:srgbClr val="003366"/>
                </a:solidFill>
                <a:latin typeface="Calibri"/>
              </a:rPr>
              <a:t>TIER 2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03366"/>
                </a:solidFill>
                <a:latin typeface="Calibri"/>
              </a:rPr>
              <a:t>Backend Server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Flask + Flask-SocketIO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localhost:5000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REST API endpoints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SQLite database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  (energy_monitor.db)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Alert engine: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  7 threshold conditions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8321040" y="3291840"/>
            <a:ext cx="822960" cy="411480"/>
          </a:xfrm>
          <a:prstGeom prst="rightArrow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235440" y="1097280"/>
            <a:ext cx="2743200" cy="5029200"/>
          </a:xfrm>
          <a:prstGeom prst="roundRect">
            <a:avLst/>
          </a:prstGeom>
          <a:solidFill>
            <a:srgbClr val="E6F2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rtlCol="0" anchor="ctr"/>
          <a:lstStyle/>
          <a:p>
            <a:pPr algn="ctr"/>
            <a:r>
              <a:rPr sz="1200" b="1">
                <a:solidFill>
                  <a:srgbClr val="003366"/>
                </a:solidFill>
                <a:latin typeface="Calibri"/>
              </a:rPr>
              <a:t>TIER 3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03366"/>
                </a:solidFill>
                <a:latin typeface="Calibri"/>
              </a:rPr>
              <a:t>Web Dashboard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HTML5, CSS3, JS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Chart.js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Real-time via WebSocket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Live charts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Device cards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Alert panel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Device map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37960"/>
            <a:ext cx="11277295" cy="182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1.   Device Simulator generates a new reading for a virtual metre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2.   Simulator sends HTTP POST to /api/reading with JSON payload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3.   Flask backend validates and stores the reading in SQLite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4.   Alert engine checks if any parameter exceeds thresholds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5.   If threshold exceeded, an alert record is created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6.   Backend broadcasts new reading (and alert) via WebSocket to all connected dashboard clients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7.   Dashboard JavaScript updates charts, device cards, and alert panel in real time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8.   User views updated data and may acknowledge alerts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537960"/>
            <a:ext cx="11277295" cy="182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IMPLEMENTATION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03366"/>
                </a:solidFill>
                <a:latin typeface="Calibri"/>
              </a:rPr>
              <a:t>Device Simulator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1731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333333"/>
                </a:solidFill>
                <a:latin typeface="Calibri"/>
              </a:rPr>
              <a:t>•  20 metres, 6 parameters, 3-second intervals, diurnal patterns, occasional anomalies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03366"/>
                </a:solidFill>
                <a:latin typeface="Calibri"/>
              </a:rPr>
              <a:t>Backend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333333"/>
                </a:solidFill>
                <a:latin typeface="Calibri"/>
              </a:rPr>
              <a:t>•  Flask REST (11 endpoints), Flask-SocketIO, SQLite WAL mode, bcrypt authentication, input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03366"/>
                </a:solidFill>
                <a:latin typeface="Calibri"/>
              </a:rPr>
              <a:t>Alert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333333"/>
                </a:solidFill>
                <a:latin typeface="Calibri"/>
              </a:rPr>
              <a:t>•  7 threshold conditions with critical/warning severity levels, offline detection (30s timeout), WebSocket push, acknowledge functionality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03366"/>
                </a:solidFill>
                <a:latin typeface="Calibri"/>
              </a:rPr>
              <a:t>Web 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333333"/>
                </a:solidFill>
                <a:latin typeface="Calibri"/>
              </a:rPr>
              <a:t>•  3-page interface (Dashboard, Alerts, Device Map), Chart.js real-time charts, Socket.IO, dark/light theme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537960"/>
            <a:ext cx="11277295" cy="182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 Text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DASHBOARD OVERVIEW</a:t>
            </a:r>
          </a:p>
        </p:txBody>
      </p:sp>
      <p:pic>
        <p:nvPicPr>
          <p:cNvPr id="4" name="Dashboard Overview Screenshot" descr="screenshot_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029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886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>
                <a:solidFill>
                  <a:srgbClr val="333333"/>
                </a:solidFill>
                <a:latin typeface="Calibri"/>
              </a:rPr>
              <a:t>Real-Time Energy Monitoring Charts</a:t>
            </a:r>
          </a:p>
        </p:txBody>
      </p:sp>
      <p:pic>
        <p:nvPicPr>
          <p:cNvPr id="6" name="Device Cards Screenshot" descr="screenshot_dashboard_dev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295" y="1097280"/>
            <a:ext cx="50292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05295" y="3886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>
                <a:solidFill>
                  <a:srgbClr val="333333"/>
                </a:solidFill>
                <a:latin typeface="Calibri"/>
              </a:rPr>
              <a:t>20 Simulated Smart Meter Devices</a:t>
            </a:r>
          </a:p>
        </p:txBody>
      </p:sp>
      <p:sp>
        <p:nvSpPr>
          <p:cNvPr id="8" name="Tech Stack"/>
          <p:cNvSpPr txBox="1"/>
          <p:nvPr/>
        </p:nvSpPr>
        <p:spPr>
          <a:xfrm>
            <a:off x="914400" y="6309360"/>
            <a:ext cx="103628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>
                <a:solidFill>
                  <a:srgbClr val="333333"/>
                </a:solidFill>
                <a:latin typeface="Calibri"/>
              </a:rPr>
              <a:t>Tech Stack: Python 3.14 | Flask 3.x | Flask-SocketIO | SQLite | Chart.js 4.x | HTML5/CSS3/JavaScript</a:t>
            </a:r>
          </a:p>
        </p:txBody>
      </p:sp>
      <p:sp>
        <p:nvSpPr>
          <p:cNvPr id="9" name="Bottom Line"/>
          <p:cNvSpPr/>
          <p:nvPr/>
        </p:nvSpPr>
        <p:spPr>
          <a:xfrm>
            <a:off x="457200" y="6537960"/>
            <a:ext cx="11274552" cy="182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age Number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33333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 Text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ALERTS AND REST API</a:t>
            </a:r>
          </a:p>
        </p:txBody>
      </p:sp>
      <p:pic>
        <p:nvPicPr>
          <p:cNvPr id="4" name="Alerts Panel Screenshot" descr="screenshot_dashboard_al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13232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5778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>
                <a:solidFill>
                  <a:srgbClr val="333333"/>
                </a:solidFill>
                <a:latin typeface="Calibri"/>
              </a:rPr>
              <a:t>Alert Panel with Severity Levels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0972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003366"/>
                </a:solidFill>
                <a:latin typeface="Calibri"/>
              </a:rPr>
              <a:t>REST API Endpoints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0" y="1554480"/>
          <a:ext cx="41148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Endpoint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/api/reading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Receive sensor data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/api/devices</a:t>
                      </a:r>
                    </a:p>
                  </a:txBody>
                  <a:tcPr marL="45720" marR="45720" marT="18288" marB="18288"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 marL="45720" marR="45720" marT="18288" marB="18288"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List all devices</a:t>
                      </a:r>
                    </a:p>
                  </a:txBody>
                  <a:tcPr marL="45720" marR="45720" marT="18288" marB="18288" anchor="ctr"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/api/readings/&lt;id&gt;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Device reading history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/api/alerts</a:t>
                      </a:r>
                    </a:p>
                  </a:txBody>
                  <a:tcPr marL="45720" marR="45720" marT="18288" marB="18288"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 marL="45720" marR="45720" marT="18288" marB="18288"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List active alerts</a:t>
                      </a:r>
                    </a:p>
                  </a:txBody>
                  <a:tcPr marL="45720" marR="45720" marT="18288" marB="18288" anchor="ctr"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/api/alerts/&lt;id&gt;/acknowledge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Acknowledge alert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Bottom Line"/>
          <p:cNvSpPr/>
          <p:nvPr/>
        </p:nvSpPr>
        <p:spPr>
          <a:xfrm>
            <a:off x="457200" y="6537960"/>
            <a:ext cx="11274552" cy="182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age Number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33333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 Text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DATABASE DESIGN</a:t>
            </a:r>
          </a:p>
        </p:txBody>
      </p:sp>
      <p:pic>
        <p:nvPicPr>
          <p:cNvPr id="4" name="ERD Diagram" descr="erd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17220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>
                <a:solidFill>
                  <a:srgbClr val="333333"/>
                </a:solidFill>
                <a:latin typeface="Calibri"/>
              </a:rPr>
              <a:t>Entity-Relationship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09728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003366"/>
                </a:solidFill>
                <a:latin typeface="Calibri"/>
              </a:rPr>
              <a:t>devices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1371600"/>
          <a:ext cx="50292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INTEGER PK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name</a:t>
                      </a:r>
                    </a:p>
                  </a:txBody>
                  <a:tcPr marL="45720" marR="45720" marT="18288" marB="18288"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45720" marR="45720" marT="18288" marB="18288" anchor="ctr"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device_type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location</a:t>
                      </a:r>
                    </a:p>
                  </a:txBody>
                  <a:tcPr marL="45720" marR="45720" marT="18288" marB="18288"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45720" marR="45720" marT="18288" marB="18288" anchor="ctr"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 dirty="0" err="1">
                          <a:solidFill>
                            <a:srgbClr val="000000"/>
                          </a:solidFill>
                          <a:latin typeface="Calibri"/>
                        </a:rPr>
                        <a:t>is_active</a:t>
                      </a:r>
                      <a:endParaRPr sz="1000" b="0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00000"/>
                          </a:solidFill>
                          <a:latin typeface="Calibri"/>
                        </a:rPr>
                        <a:t>BOOLEAN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0" y="288036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003366"/>
                </a:solidFill>
                <a:latin typeface="Calibri"/>
              </a:rPr>
              <a:t>readings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0" y="3154680"/>
          <a:ext cx="50292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INTEGER PK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device_id</a:t>
                      </a:r>
                    </a:p>
                  </a:txBody>
                  <a:tcPr marL="45720" marR="45720" marT="18288" marB="18288"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INTEGER FK</a:t>
                      </a:r>
                    </a:p>
                  </a:txBody>
                  <a:tcPr marL="45720" marR="45720" marT="18288" marB="18288" anchor="ctr"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power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FLOAT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voltage</a:t>
                      </a:r>
                    </a:p>
                  </a:txBody>
                  <a:tcPr marL="45720" marR="45720" marT="18288" marB="18288"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FLOAT</a:t>
                      </a:r>
                    </a:p>
                  </a:txBody>
                  <a:tcPr marL="45720" marR="45720" marT="18288" marB="18288" anchor="ctr"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FLOAT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energy</a:t>
                      </a:r>
                    </a:p>
                  </a:txBody>
                  <a:tcPr marL="45720" marR="45720" marT="18288" marB="18288"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00000"/>
                          </a:solidFill>
                          <a:latin typeface="Calibri"/>
                        </a:rPr>
                        <a:t>FLOAT</a:t>
                      </a:r>
                    </a:p>
                  </a:txBody>
                  <a:tcPr marL="45720" marR="45720" marT="18288" marB="18288" anchor="ctr"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0" y="489204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003366"/>
                </a:solidFill>
                <a:latin typeface="Calibri"/>
              </a:rPr>
              <a:t>alerts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7373214"/>
              </p:ext>
            </p:extLst>
          </p:nvPr>
        </p:nvGraphicFramePr>
        <p:xfrm>
          <a:off x="6918384" y="5166360"/>
          <a:ext cx="4968815" cy="13533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8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102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33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330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00000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INTEGER PK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333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device_id</a:t>
                      </a:r>
                    </a:p>
                  </a:txBody>
                  <a:tcPr marL="45720" marR="45720" marT="18288" marB="18288"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INTEGER FK</a:t>
                      </a:r>
                    </a:p>
                  </a:txBody>
                  <a:tcPr marL="45720" marR="45720" marT="18288" marB="18288" anchor="ctr"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33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333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45720" marR="45720" marT="18288" marB="18288"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FLOAT</a:t>
                      </a:r>
                    </a:p>
                  </a:txBody>
                  <a:tcPr marL="45720" marR="45720" marT="18288" marB="18288" anchor="ctr"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333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threshold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FLOAT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333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acknowledged</a:t>
                      </a:r>
                    </a:p>
                  </a:txBody>
                  <a:tcPr marL="45720" marR="45720" marT="18288" marB="18288"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00000"/>
                          </a:solidFill>
                          <a:latin typeface="Calibri"/>
                        </a:rPr>
                        <a:t>BOOLEAN</a:t>
                      </a:r>
                    </a:p>
                  </a:txBody>
                  <a:tcPr marL="45720" marR="45720" marT="18288" marB="18288" anchor="ctr"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Bottom Line"/>
          <p:cNvSpPr/>
          <p:nvPr/>
        </p:nvSpPr>
        <p:spPr>
          <a:xfrm>
            <a:off x="457200" y="6537960"/>
            <a:ext cx="11274552" cy="182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age Number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333333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1.   Real-time monitoring is feasible with web technologies — Flask + Flask-SocketIO delivered &lt;3s latency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2.   Alert engine enhances awareness — 7 abnormal conditions detected with correct severity levels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3.   Data visualisation improves comprehension — Chart.js enabled quick identification of peak usage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4.   Simulation is a valid educational approach — 20 virtual metres generated realistic residential patterns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5.   Proper authentication is critical — bcrypt hashing eliminated security gaps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6.   Zero-cost simulation is achievable — no hardware or cloud subscription required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537960"/>
            <a:ext cx="11277295" cy="182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CHALLENGES AND LESSONS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3366"/>
                </a:solidFill>
                <a:latin typeface="Calibri"/>
              </a:rPr>
              <a:t>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Database schema migration required careful handling when adding columns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Session persistence across test methods required robust helper functions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Duplicate application instances caused port conflicts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Documentation consistency required careful cross-referencing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3366"/>
                </a:solidFill>
                <a:latin typeface="Calibri"/>
              </a:rPr>
              <a:t>Lessons Learned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862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Test early and often — caught regressions during refactoring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Use environment variables for configuration — improved portability and security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Validate input at every endpoint — prevented crashes and improved UX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Design for testability from the start — simplified comprehensive test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37960"/>
            <a:ext cx="11277295" cy="182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All 6 specific objectives were achieved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The system successfully simulates 20 smart metres with realistic electrical readings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Real-time monitoring is delivered via WebSocket with &lt;3s latency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The alert engine correctly detects and notifies users of 7 abnormal conditions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All 20 test scenarios passed, confirming functional, integration, and security requirements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The project demonstrates that IoT-based energy monitoring can be implemented using lightweight, accessible web technologies without physical hardware or cloud subscriptions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537960"/>
            <a:ext cx="11277295" cy="182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RECOMMENDATIONS FOR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1.   Hardware integration — Replace simulator with ESP32 + PZEM-004T modules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2.   Machine learning for anomaly detection — Enhance alert engine with ML models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3.   Mobile application — Develop Flutter or React Native app with push notifications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4.   Cloud deployment — Deploy to AWS, Heroku, or PythonAnywhere for remote access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5.   Historical analytics — Add daily/weekly/monthly reports, trend analysis, cost estimation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6.   Multi-building support — Extend for facility management and campus-wide monitoring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537960"/>
            <a:ext cx="11277295" cy="182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Al-Ali, A. R. et al. (2017). Smart home energy management system using IoT and big data. IEEE Trans. Consumer Electronics, 63(4).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Ashton, K. (2009). That 'Internet of Things' thing. RFID Journal, 22(7).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Atzori, L. et al. (2010). The Internet of Things: A survey. Computer Networks, 54(15).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Faruqui, A. et al. (2010). Impact of informational feedback on energy consumption. Energy, 35(4).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Gubbi, J. et al. (2013). IoT: A vision, architectural elements, and future directions. Future Generation Computer Systems, 29(7).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IEA (2024). Electricity Market Report 2024.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537960"/>
            <a:ext cx="11277295" cy="1828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188720"/>
            <a:ext cx="12191695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011680"/>
            <a:ext cx="12191695" cy="1798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"/>
              </a:rPr>
              <a:t>Thank you for your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438247" y="2651760"/>
            <a:ext cx="731520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3017520"/>
            <a:ext cx="121916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Nuhu Abdulai (B202220513)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474720"/>
            <a:ext cx="12191695" cy="149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Supervisor: Dr. Bright Selorm Kodzo Anibrika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931920"/>
            <a:ext cx="12191695" cy="1341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Department of Computer Science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343400"/>
            <a:ext cx="12191695" cy="1341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Koforidua Technical University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38247" y="4846320"/>
            <a:ext cx="731520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0" y="5212080"/>
            <a:ext cx="12191695" cy="1798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Questions and Discussion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537960"/>
            <a:ext cx="11277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1676</Words>
  <Application>Microsoft Office PowerPoint</Application>
  <PresentationFormat>Widescreen</PresentationFormat>
  <Paragraphs>293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POLYMATH</cp:lastModifiedBy>
  <cp:revision>2</cp:revision>
  <dcterms:created xsi:type="dcterms:W3CDTF">2013-01-27T09:14:16Z</dcterms:created>
  <dcterms:modified xsi:type="dcterms:W3CDTF">2026-07-17T08:39:08Z</dcterms:modified>
  <cp:category/>
</cp:coreProperties>
</file>