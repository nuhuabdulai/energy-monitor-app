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2A82E"/>
                </a:solidFill>
                <a:latin typeface="Calibri"/>
              </a:rPr>
              <a:t>KOFORIDUA TECHNICAL UNIVERSITY</a:t>
            </a:r>
          </a:p>
          <a:p>
            <a:pPr algn="ctr">
              <a:lnSpc>
                <a:spcPct val="100000"/>
              </a:lnSpc>
              <a:spcAft>
                <a:spcPts val="2200"/>
              </a:spcAft>
            </a:pPr>
            <a:r>
              <a:rPr sz="1400" b="0" i="0">
                <a:solidFill>
                  <a:srgbClr val="C9D6EA"/>
                </a:solidFill>
                <a:latin typeface="Calibri"/>
              </a:rPr>
              <a:t>Faculty of Applied Science and Technology – Department of Computer Science</a:t>
            </a:r>
          </a:p>
          <a:p>
            <a:pPr algn="ctr">
              <a:lnSpc>
                <a:spcPct val="110000"/>
              </a:lnSpc>
              <a:spcAft>
                <a:spcPts val="1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DESIGN AND SIMULATION OF AN IoT-BASED SMART ENERGY MONITORING NETWORK WITH ALERT SYSTEM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F2A82E"/>
                </a:solidFill>
                <a:latin typeface="Calibri"/>
              </a:rPr>
              <a:t>Project Defense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Presented by: Nuhu Abdulai  (B202220513)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Supervisor: Dr. Bright Selorm Kodzo Anibrika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9D6EA"/>
                </a:solidFill>
                <a:latin typeface="Calibri"/>
              </a:rPr>
              <a:t>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Background of the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Electrical energy is a fundamental driver of modern society – global electricity demand grew by 2.2% in 2023 and is still accelerating (IEA, 2024).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In Ghana, residential electricity consumption accounts for about 40% of total national demand (Electricity Company of Ghana).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C00000"/>
                </a:solidFill>
                <a:latin typeface="Calibri"/>
              </a:rPr>
              <a:t>Traditional analogue (electromechanical) meters only record cumulative monthly usage and require manual reading – no real-time insight into usage patterns, peak demand, or device-level consumption.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The Internet of Things (IoT) enables smart meters and sensors to continuously measure voltage, current, power, and energy, transmitting data wirelessly for processing and visualisation (Gubbi et al., 2013).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Real-time feedback on energy usage has been shown to reduce residential consumption by 5–15% (Faruqui et al., 2010).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This project therefore proposes a simulation-based IoT smart energy monitoring and alert system for a residential building – built entirely with lightweight, accessible web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Most residential consumers lack effective tools to monitor energy in real time; conventional metering only provides cumulative data at the end of each billing cycle. This delayed feedback model causes: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1201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Lack of awareness</a:t>
            </a:r>
          </a:p>
          <a:p>
            <a:pPr lvl="1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Consumers cannot see what different appliances consume, leading to unintentional waste.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Delayed detection of faults</a:t>
            </a:r>
          </a:p>
          <a:p>
            <a:pPr lvl="1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A malfunctioning appliance drawing excessive power may go unnoticed for weeks, raising both energy costs and fire risk.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Peak demand blind spots</a:t>
            </a:r>
          </a:p>
          <a:p>
            <a:pPr lvl="1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Without real-time data, users cannot identify peak usage periods or avoid high-tariff hours.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No alert mechanism</a:t>
            </a:r>
          </a:p>
          <a:p>
            <a:pPr lvl="1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Existing meters do not notify users when consumption exceeds thresholds – leaving them vulnerable to bill shock.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Gap addressed: a system that continuously measures, transmits, and visualises electrical parameters and proactively alerts users to abnormal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Objectives of the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201400" cy="9144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Main Objective (Aim):  </a:t>
            </a:r>
            <a:r>
              <a:rPr sz="1600">
                <a:solidFill>
                  <a:srgbClr val="262626"/>
                </a:solidFill>
                <a:latin typeface="Calibri"/>
              </a:rPr>
              <a:t>To design and simulate an IoT-based smart energy monitoring network with an alert system that provides real-time information about electricity consumption in a residential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1201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50" b="1">
                <a:solidFill>
                  <a:srgbClr val="2E75B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62626"/>
                </a:solidFill>
                <a:latin typeface="Calibri"/>
              </a:rPr>
              <a:t>Specific Objective 1 – Design &amp; Simulation: design a system architecture that simulates multiple smart meters, and develop a device simulator generating realistic electrical data (power, voltage, current, energy, temperature, humidity) for 20 virtual meters.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50" b="1">
                <a:solidFill>
                  <a:srgbClr val="2E75B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62626"/>
                </a:solidFill>
                <a:latin typeface="Calibri"/>
              </a:rPr>
              <a:t>Specific Objective 2 – Backend &amp; Dashboard: implement a Flask-based backend that receives, stores, and broadcasts sensor data via REST API and WebSocket, and a real-time web dashboard with live charts, device cards, and a status map.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50" b="1">
                <a:solidFill>
                  <a:srgbClr val="2E75B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262626"/>
                </a:solidFill>
                <a:latin typeface="Calibri"/>
              </a:rPr>
              <a:t>Specific Objective 3 – Alerts &amp; Validation: implement a threshold-based alert engine that detects abnormal readings and notifies users, and validate the system through unit, integration, and security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Four systems were reviewed; each analysed with the three process models – Use Case Diagram, Sequence Diagram, and ERD (structural).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201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200400"/>
                <a:gridCol w="2880360"/>
              </a:tblGrid>
              <a:tr h="365760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 Case Diagram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Sequence Diagram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ERD (Structural)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AWS IoT Core + Analytics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Devices publish to MQTT; cloud routes, stores &amp; analyses; dashboards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Meter → MQTT → Rule → DynamoDB → Analytics → QuickSight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Device, Shadow, Rule, Reading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openHAB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Bindings integrate 200+ protocols; rules react to state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Sensor → binding → rule engine → alert (email / push)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Item, Binding, Rule,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Blynk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Device syncs to cloud; user builds widget dashboards (mobile)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ESP32 → Blynk cloud → mobile app (real time)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Device, Virtual Pin, Widget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ESP32 + PZEM-004T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Meter measures AC load; server stores &amp; displays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ESP32 (Modbus) → PZEM → HTTP POST →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Calibri"/>
                        </a:rPr>
                        <a:t>Sensor, Reading,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43400"/>
            <a:ext cx="11201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Network Simulation – 1 network architecture reviewed: AWS IoT Core network (smart meters ↔ MQTT broker ↔ rules engine ↔ DynamoDB ↔ IoT Analytics ↔ QuickSight).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AI/ML – 1 system reviewed: AWS IoT Analytics, an ML-capable cloud analytics service for IoT data at scale.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C00000"/>
                </a:solidFill>
                <a:latin typeface="Calibri"/>
              </a:rPr>
              <a:t>Research gap: existing solutions are too complex, too costly, or hardware-dependent – calling for a lightweight simulation-based alternative.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A.  Software Development – 3 process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5440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Process model: Agile (Scrum) – iterative, rapid feedback, documentation-light (Beck et al., 2001).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Justified by incremental delivery, evolving requirements, early testing, and reduced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89888"/>
            <a:ext cx="5440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Use Case Diagram – actors (User, System) and 8 use cases.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Sequence Diagram – simulator → API → database → alert engine → WebSocket → dashboard.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ERD / Class Diagram – Device, Reading, Alert (one-to-many).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B.  Network Simulation – physical and logical network diagrams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440680" cy="1783080"/>
          </a:xfrm>
          <a:prstGeom prst="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Physical Network Diagram (LAN)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137160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Device
Simulator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12848" y="3639312"/>
            <a:ext cx="29260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78608" y="3520440"/>
            <a:ext cx="137160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Backend
(Flask + SQLite)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14215" y="3639312"/>
            <a:ext cx="29260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9976" y="3520440"/>
            <a:ext cx="137160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Dashboard
(browser)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All components on a local network – no cloud subscription and no hardware wiring.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5440680" cy="1783080"/>
          </a:xfrm>
          <a:prstGeom prst="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Logical Network Diagram (publish–subscribe)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520440"/>
            <a:ext cx="123444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Simulator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72400" y="3639312"/>
            <a:ext cx="256032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520440"/>
            <a:ext cx="146304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Backend + SQLite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82912" y="3639312"/>
            <a:ext cx="256032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84664" y="3520440"/>
            <a:ext cx="1463040" cy="5029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HTTP POST: simulator publishes readings → backend validates, persists, runs alert engine → WebSocket broadcasts to all dashboards in real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C.  AI/ML – architectural model and justification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12080"/>
            <a:ext cx="1234440" cy="4572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Reading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83080" y="5303520"/>
            <a:ext cx="256032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84831" y="5212080"/>
            <a:ext cx="1234440" cy="4572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Validate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364992" y="5303520"/>
            <a:ext cx="256032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66744" y="5212080"/>
            <a:ext cx="1783080" cy="4572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Threshold check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495544" y="5303520"/>
            <a:ext cx="256032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97296" y="5212080"/>
            <a:ext cx="1965960" cy="4572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62626"/>
                </a:solidFill>
                <a:latin typeface="Calibri"/>
              </a:rPr>
              <a:t>Alert → notify +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175504"/>
            <a:ext cx="374903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Justification: deterministic, transparent, configurable per device; no training data or hardware needed.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ML anomaly detection identified as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Results and Analysis – Testing (1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514600" cy="105156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3000" b="1">
                <a:solidFill>
                  <a:srgbClr val="2E7D32"/>
                </a:solidFill>
                <a:latin typeface="Calibri"/>
              </a:rPr>
              <a:t>86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Test cases passed (149 assertions)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234440"/>
            <a:ext cx="2514600" cy="105156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3000" b="1">
                <a:solidFill>
                  <a:srgbClr val="2E7D32"/>
                </a:solidFill>
                <a:latin typeface="Calibri"/>
              </a:rPr>
              <a:t>20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Virtual smart meters simulated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234440"/>
            <a:ext cx="2514600" cy="105156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3000" b="1">
                <a:solidFill>
                  <a:srgbClr val="2E7D32"/>
                </a:solidFill>
                <a:latin typeface="Calibri"/>
              </a:rPr>
              <a:t>7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Abnormal conditions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234440"/>
            <a:ext cx="2514600" cy="105156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3000" b="1">
                <a:solidFill>
                  <a:srgbClr val="2E7D32"/>
                </a:solidFill>
                <a:latin typeface="Calibri"/>
              </a:rPr>
              <a:t>3 s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Simulator → dashboard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1201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50" b="1">
                <a:solidFill>
                  <a:srgbClr val="2E75B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62626"/>
                </a:solidFill>
                <a:latin typeface="Calibri"/>
              </a:rPr>
              <a:t>Verification testing</a:t>
            </a:r>
          </a:p>
          <a:p>
            <a:pPr lvl="1"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262626"/>
                </a:solidFill>
                <a:latin typeface="Calibri"/>
              </a:rPr>
              <a:t>Unit tests (auth, alert engine, API validation) + integration tests of the end-to-end pipeline – all passed.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50" b="1">
                <a:solidFill>
                  <a:srgbClr val="2E75B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62626"/>
                </a:solidFill>
                <a:latin typeface="Calibri"/>
              </a:rPr>
              <a:t>Validation testing</a:t>
            </a:r>
          </a:p>
          <a:p>
            <a:pPr lvl="1"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262626"/>
                </a:solidFill>
                <a:latin typeface="Calibri"/>
              </a:rPr>
              <a:t>6 scenarios passed: device simulation, real-time dashboard updates, threshold alerts, alert acknowledgement, offline detection, colour-coded device map.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50" b="1">
                <a:solidFill>
                  <a:srgbClr val="2E75B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62626"/>
                </a:solidFill>
                <a:latin typeface="Calibri"/>
              </a:rPr>
              <a:t>System security testing</a:t>
            </a:r>
          </a:p>
          <a:p>
            <a:pPr lvl="1"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262626"/>
                </a:solidFill>
                <a:latin typeface="Calibri"/>
              </a:rPr>
              <a:t>Malformed JSON → HTTP 400 (no crash); XSS attempts escaped in rendered HTML; no credentials leaked in API responses.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50" b="1">
                <a:solidFill>
                  <a:srgbClr val="2E75B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62626"/>
                </a:solidFill>
                <a:latin typeface="Calibri"/>
              </a:rPr>
              <a:t>Alert engine coverage</a:t>
            </a:r>
          </a:p>
          <a:p>
            <a:pPr lvl="1"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262626"/>
                </a:solidFill>
                <a:latin typeface="Calibri"/>
              </a:rPr>
              <a:t>Over-voltage (&gt;250 V), under-voltage (&lt;200 V), over-current (&gt;30 A), high-power (&gt;5000 W), high/low temperature (&gt;50 °C / &lt;10 °C), and device offline – correct severity levels.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2E75B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2E7D32"/>
                </a:solidFill>
                <a:latin typeface="Calibri"/>
              </a:rPr>
              <a:t>Outcome: no critical or high-severity issues; system ready for demonstration and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Results and Analysis – Key Findings (2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Real-time monitoring is feasible with web technologies</a:t>
            </a:r>
          </a:p>
          <a:p>
            <a:pPr lvl="1">
              <a:lnSpc>
                <a:spcPct val="104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Flask REST + Flask-SocketIO delivered readings to the dashboard within the same 3-second interval, with no measurable delay.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Alert engine enhances awareness</a:t>
            </a:r>
          </a:p>
          <a:p>
            <a:pPr lvl="1">
              <a:lnSpc>
                <a:spcPct val="104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Correctly detected all 7 anomaly types with appropriate severity levels (critical/warning).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Data visualisation improves comprehension</a:t>
            </a:r>
          </a:p>
          <a:p>
            <a:pPr lvl="1">
              <a:lnSpc>
                <a:spcPct val="104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Chart.js charts revealed peak usage hours and anomalous readings at a glance.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Simulation is a valid educational approach</a:t>
            </a:r>
          </a:p>
          <a:p>
            <a:pPr lvl="1">
              <a:lnSpc>
                <a:spcPct val="104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20 virtual meters generated realistic residential patterns without hardware cost, wiring, or safety concerns.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Proper authentication is critical</a:t>
            </a:r>
          </a:p>
          <a:p>
            <a:pPr lvl="1">
              <a:lnSpc>
                <a:spcPct val="104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Moving from demo auto-login to password-verified authentication with bcrypt (werkzeug.security) closed a significant security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Conclusions and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406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Conclusions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All objectives achieved – 20 simulated meters, Flask backend (REST + WebSocket), SQLite storage, real-time dashboard, and alert engine.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All 86 test cases passed, confirming functional, integration, and security requirements.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IoT energy monitoring can be effectively implemented with lightweight, accessible web technologies – no physical hardware or cloud subscription required.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Provides a foundation for future physical IoT deployments and an educational resource for energy management and IoT.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88720"/>
            <a:ext cx="54406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Recommendations for Future Work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Hardware integration – replace simulator with ESP32 + PZEM-004T (API already accepts real data).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Machine learning for anomaly detection beyond fixed thresholds.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Mobile application (Flutter/React Native) with push notifications.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Cloud deployment (AWS, Heroku, PythonAnywhere) for remote access.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Historical analytics – daily/weekly/monthly reports, trends, cost estimation.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Multi-building / campus-wide support.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Smart-home voice integration (Google Home, Amazon Alexa, Apple HomeKit).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234440" cy="457200"/>
          </a:xfrm>
          <a:prstGeom prst="roundRect">
            <a:avLst/>
          </a:prstGeom>
          <a:solidFill>
            <a:srgbClr val="F2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Design and Simulation of an IoT-Based Smart Energy Monitoring Network with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406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Al-Ali, A. R., Zualkernan, I. A., Rashid, M., et al. (2017). A smart home energy management system using IoT and big data analytics approach. IEEE Trans. Consumer Electronics, 63(4).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Ashton, K. (2009). That ‘Internet of Things’ thing. RFID Journal, 22(7).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Atzori, L., Iera, A., &amp; Morabito, G. (2010). The Internet of Things: A survey. Computer Networks, 54(15).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Beck, K., Beedle, M., van Bennekum, A., et al. (2001). Manifesto for Agile Software Development. Agile Alliance.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Blynk Inc. (2024). Blynk IoT Platform Documentation. https://docs.blynk.io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Faruqui, A., Sergici, S., &amp; Sharif, A. (2010). The impact of informational feedback on energy consumption. Energy, 35(4).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54406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Gubbi, J., Buyya, R., Marusic, S., &amp; Palaniswami, M. (2013). Internet of Things (IoT): A vision, architectural elements, and future directions. Future Generation Computer Systems, 29(7).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International Energy Agency. (2024). Electricity Market Report 2024. IEA Publications.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openHAB Foundation. (2024). openHAB Documentation. https://www.openhab.org/docs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Statista. (2024). Internet of Things (IoT) market size worldwide. https://www.statista.com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Zanella, A., Bui, N., Castellani, A., et al. (2014). Internet of Things for smart cities. IEEE Internet of Things Journal, 1(1).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Flask Contributors. (2024). Flask Documentation (3.x). https://flask.palletsprojects.com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